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83" r:id="rId3"/>
    <p:sldId id="284" r:id="rId4"/>
    <p:sldId id="258" r:id="rId5"/>
    <p:sldId id="259" r:id="rId6"/>
    <p:sldId id="260" r:id="rId7"/>
    <p:sldId id="261" r:id="rId8"/>
    <p:sldId id="262" r:id="rId9"/>
    <p:sldId id="257" r:id="rId10"/>
    <p:sldId id="266" r:id="rId11"/>
    <p:sldId id="282" r:id="rId12"/>
    <p:sldId id="263" r:id="rId13"/>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9F6"/>
    <a:srgbClr val="FFFFF4"/>
    <a:srgbClr val="FFFF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82357" autoAdjust="0"/>
  </p:normalViewPr>
  <p:slideViewPr>
    <p:cSldViewPr snapToGrid="0">
      <p:cViewPr>
        <p:scale>
          <a:sx n="50" d="100"/>
          <a:sy n="50" d="100"/>
        </p:scale>
        <p:origin x="1650" y="5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DFB22-5E02-46A2-9226-5D8174CAB4AB}" type="datetimeFigureOut">
              <a:rPr lang="en-IL" smtClean="0"/>
              <a:t>29/05/2025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707CDF-C7C3-4A26-A6D8-0617337BE7EA}" type="slidenum">
              <a:rPr lang="en-IL" smtClean="0"/>
              <a:t>‹#›</a:t>
            </a:fld>
            <a:endParaRPr lang="en-IL"/>
          </a:p>
        </p:txBody>
      </p:sp>
    </p:spTree>
    <p:extLst>
      <p:ext uri="{BB962C8B-B14F-4D97-AF65-F5344CB8AC3E}">
        <p14:creationId xmlns:p14="http://schemas.microsoft.com/office/powerpoint/2010/main" val="1237530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חווית משחק</a:t>
            </a:r>
          </a:p>
          <a:p>
            <a:r>
              <a:rPr lang="he-IL" dirty="0"/>
              <a:t>אפקליציה שהולכת לשנות את כל הראייה שלכם על הרגלי אכילה וליווי אישי</a:t>
            </a:r>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1</a:t>
            </a:fld>
            <a:endParaRPr lang="en-IL"/>
          </a:p>
        </p:txBody>
      </p:sp>
    </p:spTree>
    <p:extLst>
      <p:ext uri="{BB962C8B-B14F-4D97-AF65-F5344CB8AC3E}">
        <p14:creationId xmlns:p14="http://schemas.microsoft.com/office/powerpoint/2010/main" val="146746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7485B-0E03-345F-18F3-0DA7EC63E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00543-AA54-53C9-C574-E9AB90D1B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27DAA4-2048-BF0F-8936-1359EC4A48E8}"/>
              </a:ext>
            </a:extLst>
          </p:cNvPr>
          <p:cNvSpPr>
            <a:spLocks noGrp="1"/>
          </p:cNvSpPr>
          <p:nvPr>
            <p:ph type="body" idx="1"/>
          </p:nvPr>
        </p:nvSpPr>
        <p:spPr/>
        <p:txBody>
          <a:bodyPr/>
          <a:lstStyle/>
          <a:p>
            <a:r>
              <a:rPr lang="he-IL" dirty="0"/>
              <a:t>חווית משחק</a:t>
            </a:r>
          </a:p>
          <a:p>
            <a:r>
              <a:rPr lang="he-IL" dirty="0"/>
              <a:t>אפקליציה שהולכת לשנות את כל הראייה שלכם על הרגלי אכילה וליווי אישי</a:t>
            </a:r>
            <a:endParaRPr lang="en-IL" dirty="0"/>
          </a:p>
        </p:txBody>
      </p:sp>
      <p:sp>
        <p:nvSpPr>
          <p:cNvPr id="4" name="Slide Number Placeholder 3">
            <a:extLst>
              <a:ext uri="{FF2B5EF4-FFF2-40B4-BE49-F238E27FC236}">
                <a16:creationId xmlns:a16="http://schemas.microsoft.com/office/drawing/2014/main" id="{101216D0-D4D0-ABD5-1EEE-E3050AD722E2}"/>
              </a:ext>
            </a:extLst>
          </p:cNvPr>
          <p:cNvSpPr>
            <a:spLocks noGrp="1"/>
          </p:cNvSpPr>
          <p:nvPr>
            <p:ph type="sldNum" sz="quarter" idx="5"/>
          </p:nvPr>
        </p:nvSpPr>
        <p:spPr/>
        <p:txBody>
          <a:bodyPr/>
          <a:lstStyle/>
          <a:p>
            <a:fld id="{73707CDF-C7C3-4A26-A6D8-0617337BE7EA}" type="slidenum">
              <a:rPr lang="en-IL" smtClean="0"/>
              <a:t>2</a:t>
            </a:fld>
            <a:endParaRPr lang="en-IL"/>
          </a:p>
        </p:txBody>
      </p:sp>
    </p:spTree>
    <p:extLst>
      <p:ext uri="{BB962C8B-B14F-4D97-AF65-F5344CB8AC3E}">
        <p14:creationId xmlns:p14="http://schemas.microsoft.com/office/powerpoint/2010/main" val="1736600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C6FA-B4F9-BEA4-73A5-8BA6868AD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7F247-0F91-70AC-CA10-C5E1A5F39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6A600-3CA4-F136-7F5C-9151E4C9F35D}"/>
              </a:ext>
            </a:extLst>
          </p:cNvPr>
          <p:cNvSpPr>
            <a:spLocks noGrp="1"/>
          </p:cNvSpPr>
          <p:nvPr>
            <p:ph type="body" idx="1"/>
          </p:nvPr>
        </p:nvSpPr>
        <p:spPr/>
        <p:txBody>
          <a:bodyPr/>
          <a:lstStyle/>
          <a:p>
            <a:r>
              <a:rPr lang="he-IL" dirty="0"/>
              <a:t>חווית משחק</a:t>
            </a:r>
          </a:p>
          <a:p>
            <a:r>
              <a:rPr lang="he-IL" dirty="0"/>
              <a:t>אפקליציה שהולכת לשנות את כל הראייה שלכם על הרגלי אכילה וליווי אישי</a:t>
            </a:r>
            <a:endParaRPr lang="en-IL" dirty="0"/>
          </a:p>
        </p:txBody>
      </p:sp>
      <p:sp>
        <p:nvSpPr>
          <p:cNvPr id="4" name="Slide Number Placeholder 3">
            <a:extLst>
              <a:ext uri="{FF2B5EF4-FFF2-40B4-BE49-F238E27FC236}">
                <a16:creationId xmlns:a16="http://schemas.microsoft.com/office/drawing/2014/main" id="{38FA17F6-5382-95C3-D491-D3B6577CC6D9}"/>
              </a:ext>
            </a:extLst>
          </p:cNvPr>
          <p:cNvSpPr>
            <a:spLocks noGrp="1"/>
          </p:cNvSpPr>
          <p:nvPr>
            <p:ph type="sldNum" sz="quarter" idx="5"/>
          </p:nvPr>
        </p:nvSpPr>
        <p:spPr/>
        <p:txBody>
          <a:bodyPr/>
          <a:lstStyle/>
          <a:p>
            <a:fld id="{73707CDF-C7C3-4A26-A6D8-0617337BE7EA}" type="slidenum">
              <a:rPr lang="en-IL" smtClean="0"/>
              <a:t>3</a:t>
            </a:fld>
            <a:endParaRPr lang="en-IL"/>
          </a:p>
        </p:txBody>
      </p:sp>
    </p:spTree>
    <p:extLst>
      <p:ext uri="{BB962C8B-B14F-4D97-AF65-F5344CB8AC3E}">
        <p14:creationId xmlns:p14="http://schemas.microsoft.com/office/powerpoint/2010/main" val="2367667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he-IL" b="1" dirty="0"/>
              <a:t>כמעט כולנו מכירים את הסיטואציה הזו שבה החלטנו שהשנה נשנה הרגלים, רוב האנשים באופן לא מאוד מפתיע רוצים הרבה פעמים לשנות הרגלים תזונתיים.. אבל בפועל הרוב לא מצליחים לממש את זה, כולנו מכירים את התהליך</a:t>
            </a:r>
            <a:endParaRPr lang="en-US" b="1" dirty="0"/>
          </a:p>
          <a:p>
            <a:pPr>
              <a:buNone/>
            </a:pPr>
            <a:r>
              <a:rPr lang="en-US" b="1" dirty="0"/>
              <a:t>80%</a:t>
            </a:r>
            <a:r>
              <a:rPr lang="en-US" dirty="0"/>
              <a:t> write it down</a:t>
            </a:r>
          </a:p>
          <a:p>
            <a:pPr>
              <a:buNone/>
            </a:pPr>
            <a:r>
              <a:rPr lang="en-US" dirty="0"/>
              <a:t>Most people quit by January</a:t>
            </a:r>
          </a:p>
          <a:p>
            <a:pPr>
              <a:buNone/>
            </a:pPr>
            <a:r>
              <a:rPr lang="en-US" dirty="0"/>
              <a:t>Only </a:t>
            </a:r>
            <a:r>
              <a:rPr lang="en-US" b="1" dirty="0"/>
              <a:t>9%</a:t>
            </a:r>
            <a:r>
              <a:rPr lang="en-US" dirty="0"/>
              <a:t> stick with it for a full year</a:t>
            </a:r>
          </a:p>
          <a:p>
            <a:pPr>
              <a:buNone/>
            </a:pPr>
            <a:r>
              <a:rPr lang="en-US" dirty="0"/>
              <a:t>After just one year, 35% of individuals return to their original weight or gain an additional 5 pounds.</a:t>
            </a:r>
          </a:p>
          <a:p>
            <a:r>
              <a:rPr lang="en-US" dirty="0"/>
              <a:t>On average, </a:t>
            </a:r>
            <a:r>
              <a:rPr lang="en-US" b="1" dirty="0"/>
              <a:t>35%</a:t>
            </a:r>
            <a:r>
              <a:rPr lang="en-US" dirty="0"/>
              <a:t> of people who start dieting become overly restrictive, turning dieting into a serious issue.</a:t>
            </a:r>
          </a:p>
          <a:p>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4</a:t>
            </a:fld>
            <a:endParaRPr lang="en-IL"/>
          </a:p>
        </p:txBody>
      </p:sp>
    </p:spTree>
    <p:extLst>
      <p:ext uri="{BB962C8B-B14F-4D97-AF65-F5344CB8AC3E}">
        <p14:creationId xmlns:p14="http://schemas.microsoft.com/office/powerpoint/2010/main" val="3438050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זה מתחיל טוב ואולי גם ממשיך ואז כבר אין כוח כל כך לעקוב ולא רואים תוצאות ומהר מאוד מוותרים</a:t>
            </a:r>
          </a:p>
          <a:p>
            <a:r>
              <a:rPr lang="he-IL" dirty="0"/>
              <a:t>רוב האנשים מוותרים תוך פחות מחודש לפי מחקר שנעשה</a:t>
            </a:r>
          </a:p>
          <a:p>
            <a:r>
              <a:rPr lang="he-IL" dirty="0"/>
              <a:t>זה כנראה בגלל שכל התהליך של מעקב תזונתי יכול להיות מאוד מתיש ויש הרבה מקומות לייעול תהליכים</a:t>
            </a:r>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5</a:t>
            </a:fld>
            <a:endParaRPr lang="en-IL"/>
          </a:p>
        </p:txBody>
      </p:sp>
    </p:spTree>
    <p:extLst>
      <p:ext uri="{BB962C8B-B14F-4D97-AF65-F5344CB8AC3E}">
        <p14:creationId xmlns:p14="http://schemas.microsoft.com/office/powerpoint/2010/main" val="1596776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ctr">
              <a:buNone/>
            </a:pPr>
            <a:r>
              <a:rPr lang="en-US" sz="1200" dirty="0"/>
              <a:t> </a:t>
            </a:r>
          </a:p>
          <a:p>
            <a:pPr marL="0" indent="0" algn="ctr">
              <a:buNone/>
            </a:pPr>
            <a:r>
              <a:rPr lang="en-US" sz="1200" dirty="0"/>
              <a:t>People need personalized, gamified, supportive app with minimal time consumption to help them stay on track.</a:t>
            </a:r>
          </a:p>
          <a:p>
            <a:endParaRPr lang="en-IL" sz="1200" dirty="0"/>
          </a:p>
          <a:p>
            <a:r>
              <a:rPr lang="he-IL" dirty="0"/>
              <a:t>חווית משחק!!</a:t>
            </a:r>
          </a:p>
          <a:p>
            <a:r>
              <a:rPr lang="he-IL" dirty="0"/>
              <a:t>הפתרון שלנו מציג אפליקציה שתייעל את כל התהליך הזה עבור אנשים כך שהיא תותאם להם באופן ספציפי, תהיה מבוססת על חווית משחק, תחסוך זמן ותהיה מבוססת על וולנס ובריאות נפשית ופיזית כאחד</a:t>
            </a:r>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6</a:t>
            </a:fld>
            <a:endParaRPr lang="en-IL"/>
          </a:p>
        </p:txBody>
      </p:sp>
    </p:spTree>
    <p:extLst>
      <p:ext uri="{BB962C8B-B14F-4D97-AF65-F5344CB8AC3E}">
        <p14:creationId xmlns:p14="http://schemas.microsoft.com/office/powerpoint/2010/main" val="99145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he-IL" dirty="0"/>
          </a:p>
          <a:p>
            <a:pPr marL="0" marR="0" lvl="0" indent="0" algn="r" defTabSz="914400" rtl="0" eaLnBrk="1" fontAlgn="auto" latinLnBrk="0" hangingPunct="1">
              <a:lnSpc>
                <a:spcPct val="100000"/>
              </a:lnSpc>
              <a:spcBef>
                <a:spcPts val="0"/>
              </a:spcBef>
              <a:spcAft>
                <a:spcPts val="0"/>
              </a:spcAft>
              <a:buClrTx/>
              <a:buSzTx/>
              <a:buFontTx/>
              <a:buNone/>
              <a:tabLst/>
              <a:defRPr/>
            </a:pPr>
            <a:r>
              <a:rPr lang="he-IL" dirty="0"/>
              <a:t>האפלקציה מציגה את גואקו האבוקדו, מאמן האיי-איי שלנו, הוא יודע להתאים את הכל לצרכים האישיים של המשתמש. ליצור תפריט שבועי, יומי, להציע רעיונות לארוחות בהתאם ליום שהיה.. כל דבר שאפשר לייעל נעשה איתו. </a:t>
            </a:r>
          </a:p>
          <a:p>
            <a:pPr marL="0" marR="0" lvl="0" indent="0" algn="r" defTabSz="914400" rtl="0" eaLnBrk="1" fontAlgn="auto" latinLnBrk="0" hangingPunct="1">
              <a:lnSpc>
                <a:spcPct val="100000"/>
              </a:lnSpc>
              <a:spcBef>
                <a:spcPts val="0"/>
              </a:spcBef>
              <a:spcAft>
                <a:spcPts val="0"/>
              </a:spcAft>
              <a:buClrTx/>
              <a:buSzTx/>
              <a:buFontTx/>
              <a:buNone/>
              <a:tabLst/>
              <a:defRPr/>
            </a:pPr>
            <a:r>
              <a:rPr lang="he-IL" dirty="0"/>
              <a:t>הוא יכול לפנות למשתמש בגישה תומכת וחיובית או לחלופין בגישת "אהבה קשוחה", הכל לפי העדפות המשתמש</a:t>
            </a:r>
          </a:p>
          <a:p>
            <a:pPr marL="0" marR="0" lvl="0" indent="0" algn="r" defTabSz="914400" rtl="0" eaLnBrk="1" fontAlgn="auto" latinLnBrk="0" hangingPunct="1">
              <a:lnSpc>
                <a:spcPct val="100000"/>
              </a:lnSpc>
              <a:spcBef>
                <a:spcPts val="0"/>
              </a:spcBef>
              <a:spcAft>
                <a:spcPts val="0"/>
              </a:spcAft>
              <a:buClrTx/>
              <a:buSzTx/>
              <a:buFontTx/>
              <a:buNone/>
              <a:tabLst/>
              <a:defRPr/>
            </a:pPr>
            <a:r>
              <a:rPr lang="he-IL" dirty="0"/>
              <a:t>כדי לייעל תהליכים שבדרכ לוקחים יותר מידי זמן באפליקציות אחרות, הוספנו פיצ'ר של מתכונים, שהוא מספיק חזק בשביל שגם אנשים שרק רוצים פלטפורמה לשמירת מתכונים יוכלו להשתמש. גואקו מאפשר להעלות מתכון, לערוך אותו לפי התאמות תזונתיות, לשמור מספר עותקים של גרסאות שונות לפי צורך, הכל בלי לבזבז שעות זמן באינטרנט על מתכונים שמתאימים יותר או פחות לצרכים של המשתמש.</a:t>
            </a:r>
          </a:p>
          <a:p>
            <a:pPr marL="0" marR="0" lvl="0" indent="0" algn="r" defTabSz="914400" rtl="0" eaLnBrk="1" fontAlgn="auto" latinLnBrk="0" hangingPunct="1">
              <a:lnSpc>
                <a:spcPct val="100000"/>
              </a:lnSpc>
              <a:spcBef>
                <a:spcPts val="0"/>
              </a:spcBef>
              <a:spcAft>
                <a:spcPts val="0"/>
              </a:spcAft>
              <a:buClrTx/>
              <a:buSzTx/>
              <a:buFontTx/>
              <a:buNone/>
              <a:tabLst/>
              <a:defRPr/>
            </a:pPr>
            <a:r>
              <a:rPr lang="he-IL" dirty="0"/>
              <a:t>פיצ'ר רשימת הקניות שמתממשק עם המתכונים כך שאפשר לתכנן תפריט שבועי ולהוסיף את רכיבי המתכונים אוטומטית לרשימה בקלות ויעילות.</a:t>
            </a:r>
          </a:p>
          <a:p>
            <a:pPr marL="0" marR="0" lvl="0" indent="0" algn="r" defTabSz="914400" rtl="0" eaLnBrk="1" fontAlgn="auto" latinLnBrk="0" hangingPunct="1">
              <a:lnSpc>
                <a:spcPct val="100000"/>
              </a:lnSpc>
              <a:spcBef>
                <a:spcPts val="0"/>
              </a:spcBef>
              <a:spcAft>
                <a:spcPts val="0"/>
              </a:spcAft>
              <a:buClrTx/>
              <a:buSzTx/>
              <a:buFontTx/>
              <a:buNone/>
              <a:tabLst/>
              <a:defRPr/>
            </a:pPr>
            <a:r>
              <a:rPr lang="he-IL" dirty="0"/>
              <a:t>מבחינת חווית משחק יהיו לנו "מסעות" ו"תגים" שיניעו את המשתמשים להשתמש ולתעד יותר כדי להפוך את החוויה לפחות "קאדר" בשבילם אלא יותר זורמת ומתגמלת.</a:t>
            </a:r>
          </a:p>
          <a:p>
            <a:pPr marL="0" marR="0" lvl="0" indent="0" algn="r" defTabSz="914400" rtl="0" eaLnBrk="1" fontAlgn="auto" latinLnBrk="0" hangingPunct="1">
              <a:lnSpc>
                <a:spcPct val="100000"/>
              </a:lnSpc>
              <a:spcBef>
                <a:spcPts val="0"/>
              </a:spcBef>
              <a:spcAft>
                <a:spcPts val="0"/>
              </a:spcAft>
              <a:buClrTx/>
              <a:buSzTx/>
              <a:buFontTx/>
              <a:buNone/>
              <a:tabLst/>
              <a:defRPr/>
            </a:pPr>
            <a:r>
              <a:rPr lang="he-IL" dirty="0"/>
              <a:t>כמובן שבשביל זה אין כמו האפשרות לחלוק ולהתחרות על תגים עם חברים, או אפילו לחלוק את ההתקדמות, או לפרסם פוסטים בנושא על התהליך. לחלוק מתכונים.</a:t>
            </a:r>
          </a:p>
          <a:p>
            <a:pPr marL="0" marR="0" lvl="0" indent="0" algn="r" defTabSz="914400" rtl="0" eaLnBrk="1" fontAlgn="auto" latinLnBrk="0" hangingPunct="1">
              <a:lnSpc>
                <a:spcPct val="100000"/>
              </a:lnSpc>
              <a:spcBef>
                <a:spcPts val="0"/>
              </a:spcBef>
              <a:spcAft>
                <a:spcPts val="0"/>
              </a:spcAft>
              <a:buClrTx/>
              <a:buSzTx/>
              <a:buFontTx/>
              <a:buNone/>
              <a:tabLst/>
              <a:defRPr/>
            </a:pPr>
            <a:r>
              <a:rPr lang="he-IL" dirty="0"/>
              <a:t>ולבסוף חלק חשוב של אנליזות שיחקור את המגמות התנהלות של המתמש וישקף אותן בצורה תומכת ומלמדת תוך התאמת הפיצ'רים השונים לפי התובנות הקיימות.</a:t>
            </a:r>
          </a:p>
          <a:p>
            <a:pPr marL="0" marR="0" lvl="0" indent="0" algn="r" defTabSz="914400" rtl="0" eaLnBrk="1" fontAlgn="auto" latinLnBrk="0" hangingPunct="1">
              <a:lnSpc>
                <a:spcPct val="100000"/>
              </a:lnSpc>
              <a:spcBef>
                <a:spcPts val="0"/>
              </a:spcBef>
              <a:spcAft>
                <a:spcPts val="0"/>
              </a:spcAft>
              <a:buClrTx/>
              <a:buSzTx/>
              <a:buFontTx/>
              <a:buNone/>
              <a:tabLst/>
              <a:defRPr/>
            </a:pPr>
            <a:endParaRPr lang="he-I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Plateful offers a comprehensive, AI-powered coach, fully supportive and positive by using quests. It addresses physical and emotional health. We fill a critical market void.</a:t>
            </a:r>
          </a:p>
          <a:p>
            <a:pPr>
              <a:buNone/>
            </a:pPr>
            <a:r>
              <a:rPr lang="en-US" b="1" dirty="0"/>
              <a:t>AI Coach</a:t>
            </a:r>
          </a:p>
          <a:p>
            <a:pPr marL="0" indent="0">
              <a:buNone/>
            </a:pPr>
            <a:r>
              <a:rPr lang="en-US" dirty="0"/>
              <a:t>Guaco, your dedicated AI buddy learns your habits. It offers real-time guidance and feedback. This ensures consistent progress.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 = Guaco easily sort menus and adapt recipes. Can share with friends. Eating well is now effortless.</a:t>
            </a:r>
          </a:p>
          <a:p>
            <a:endParaRPr lang="en-US" dirty="0"/>
          </a:p>
          <a:p>
            <a:r>
              <a:rPr lang="en-US" dirty="0"/>
              <a:t>Friends = connect and share progress and badges with friends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 = Simplify grocery shopping with smart lists. Organizes ingredients efficiently. </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Q&amp;B = Plateful turns wellness into a game with personalized daily, weekly, and monthly quests. These fun challenges and collectible badges keep users engaged—making healthy habits feel rewarding, not like extra work.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I&amp;A = Guaco learns your unique habits to identify what truly works for you. With personalized insights, it empowers you to build sustainable, healthy routines that last.</a:t>
            </a:r>
          </a:p>
          <a:p>
            <a:endParaRPr lang="en-US" dirty="0"/>
          </a:p>
          <a:p>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7</a:t>
            </a:fld>
            <a:endParaRPr lang="en-IL"/>
          </a:p>
        </p:txBody>
      </p:sp>
    </p:spTree>
    <p:extLst>
      <p:ext uri="{BB962C8B-B14F-4D97-AF65-F5344CB8AC3E}">
        <p14:creationId xmlns:p14="http://schemas.microsoft.com/office/powerpoint/2010/main" val="3397155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he-IL" dirty="0"/>
              <a:t>כך נראית חווית המשתמש, מכניסים מידע בסיסי על המתשמש, מגיעים למסך הבית, רואים את הקווסטים ומתחילים לתעד ולהתייעץ עם הצאט. אפשר לבקש מתכון, לשמור, לחלוק. אחרי השמירה יופיע במסך הבית סוג של סיכום מעודד יומי. </a:t>
            </a:r>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8</a:t>
            </a:fld>
            <a:endParaRPr lang="en-IL"/>
          </a:p>
        </p:txBody>
      </p:sp>
    </p:spTree>
    <p:extLst>
      <p:ext uri="{BB962C8B-B14F-4D97-AF65-F5344CB8AC3E}">
        <p14:creationId xmlns:p14="http://schemas.microsoft.com/office/powerpoint/2010/main" val="1702082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he-IL" dirty="0"/>
              <a:t>הכנו </a:t>
            </a:r>
            <a:r>
              <a:rPr lang="en-US" dirty="0"/>
              <a:t>QR</a:t>
            </a:r>
            <a:r>
              <a:rPr lang="he-IL" dirty="0"/>
              <a:t> לאפליקציה כדי שתוכלו לנסות אותה בעצמיכם </a:t>
            </a:r>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9</a:t>
            </a:fld>
            <a:endParaRPr lang="en-IL"/>
          </a:p>
        </p:txBody>
      </p:sp>
    </p:spTree>
    <p:extLst>
      <p:ext uri="{BB962C8B-B14F-4D97-AF65-F5344CB8AC3E}">
        <p14:creationId xmlns:p14="http://schemas.microsoft.com/office/powerpoint/2010/main" val="88987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Our users</a:t>
            </a:r>
            <a:r>
              <a:rPr lang="en-US" dirty="0"/>
              <a:t> are young, motivated, and tired of apps that guilt them into quitting. Plateful meets them where they are—with fun, support, and real behavior change.</a:t>
            </a:r>
          </a:p>
          <a:p>
            <a:endParaRPr lang="he-IL" dirty="0"/>
          </a:p>
          <a:p>
            <a:r>
              <a:rPr lang="he-IL" dirty="0"/>
              <a:t>קצת פרטים יבשים, המשתמשים שלנו הולכים להיות מי שמעניין אותו להתמיד בשינוי תזונתי, ככל הנראה בעיקר צעירים שמתדרים טוב יותר עם טכנולוגיות אבל לא רק.</a:t>
            </a:r>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10</a:t>
            </a:fld>
            <a:endParaRPr lang="en-IL"/>
          </a:p>
        </p:txBody>
      </p:sp>
    </p:spTree>
    <p:extLst>
      <p:ext uri="{BB962C8B-B14F-4D97-AF65-F5344CB8AC3E}">
        <p14:creationId xmlns:p14="http://schemas.microsoft.com/office/powerpoint/2010/main" val="260972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digital wellness market is booming—yet no one makes it </a:t>
            </a:r>
            <a:r>
              <a:rPr lang="en-US" i="1" dirty="0"/>
              <a:t>fun</a:t>
            </a:r>
            <a:r>
              <a:rPr lang="en-US" dirty="0"/>
              <a:t>. Plateful stands out by combining habit tracking with emotional support and game mechanics.</a:t>
            </a:r>
          </a:p>
          <a:p>
            <a:endParaRPr lang="he-IL" dirty="0"/>
          </a:p>
          <a:p>
            <a:r>
              <a:rPr lang="he-IL" dirty="0"/>
              <a:t>מבחינת השוק, הוא מאוד מרוויח וצפוי רק להעלות עם השנים עקב העליה במודעות לבעיות בריאותיות ביניהן השמנת יתר ותת משקל והשלכותיהם</a:t>
            </a:r>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11</a:t>
            </a:fld>
            <a:endParaRPr lang="en-IL"/>
          </a:p>
        </p:txBody>
      </p:sp>
    </p:spTree>
    <p:extLst>
      <p:ext uri="{BB962C8B-B14F-4D97-AF65-F5344CB8AC3E}">
        <p14:creationId xmlns:p14="http://schemas.microsoft.com/office/powerpoint/2010/main" val="740392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he-IL" dirty="0"/>
              <a:t>המודל העסקי שלנו מתחלק כולל חוויה חינמית עם כל מיני פיצרים עיקריים, קווסטים ומתכונים</a:t>
            </a:r>
          </a:p>
          <a:p>
            <a:pPr algn="r"/>
            <a:r>
              <a:rPr lang="he-IL" dirty="0"/>
              <a:t>תהיה אפשרות למנוי חודשי או שני עם אינסיטים טובים יותר, תוכניות מותאמות, תגים אקסלוסיבים וכדומה</a:t>
            </a:r>
          </a:p>
          <a:p>
            <a:pPr algn="r"/>
            <a:r>
              <a:rPr lang="he-IL" dirty="0"/>
              <a:t>וכמובן שיתופי פעולה עם חברות אחרות כחלק מהאתגרים או למכור מוצרים בעלות מוזלת או לפרסם בתחוך מתכון חברה ספציפית וכדומה.</a:t>
            </a:r>
            <a:endParaRPr lang="en-IL" dirty="0"/>
          </a:p>
        </p:txBody>
      </p:sp>
      <p:sp>
        <p:nvSpPr>
          <p:cNvPr id="4" name="Slide Number Placeholder 3"/>
          <p:cNvSpPr>
            <a:spLocks noGrp="1"/>
          </p:cNvSpPr>
          <p:nvPr>
            <p:ph type="sldNum" sz="quarter" idx="5"/>
          </p:nvPr>
        </p:nvSpPr>
        <p:spPr/>
        <p:txBody>
          <a:bodyPr/>
          <a:lstStyle/>
          <a:p>
            <a:fld id="{73707CDF-C7C3-4A26-A6D8-0617337BE7EA}" type="slidenum">
              <a:rPr lang="en-IL" smtClean="0"/>
              <a:t>12</a:t>
            </a:fld>
            <a:endParaRPr lang="en-IL"/>
          </a:p>
        </p:txBody>
      </p:sp>
    </p:spTree>
    <p:extLst>
      <p:ext uri="{BB962C8B-B14F-4D97-AF65-F5344CB8AC3E}">
        <p14:creationId xmlns:p14="http://schemas.microsoft.com/office/powerpoint/2010/main" val="33854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6B636-26D5-4300-50AD-192B609A5D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849A636C-963A-D6C3-E104-A564E7F994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3653554A-79E6-C01E-4204-6BE40FEF9695}"/>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5" name="Footer Placeholder 4">
            <a:extLst>
              <a:ext uri="{FF2B5EF4-FFF2-40B4-BE49-F238E27FC236}">
                <a16:creationId xmlns:a16="http://schemas.microsoft.com/office/drawing/2014/main" id="{7F0F03E4-DA3B-8D03-34B2-F8EE00794F0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C7CEF84-8694-48AB-76C6-F89FA8569C08}"/>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3841533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7431-1ECA-1E4E-5F26-2F9B890A7E4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F14BCA0-C5C3-DC54-98B2-4809BF64A9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E42ADE8-D083-19CF-AFF6-DC400F16AF35}"/>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5" name="Footer Placeholder 4">
            <a:extLst>
              <a:ext uri="{FF2B5EF4-FFF2-40B4-BE49-F238E27FC236}">
                <a16:creationId xmlns:a16="http://schemas.microsoft.com/office/drawing/2014/main" id="{372EFA81-6937-1637-C3DE-C5CF18BBF32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BB2B122-AD5C-1695-3E6F-492B73DF2624}"/>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2729004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41760-A781-D469-D742-92FC48F7C7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DF3DBE55-B6B5-3B8D-4C79-9094EAA4A4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90DEB5-DC07-B6B2-7E66-02B5C693B951}"/>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5" name="Footer Placeholder 4">
            <a:extLst>
              <a:ext uri="{FF2B5EF4-FFF2-40B4-BE49-F238E27FC236}">
                <a16:creationId xmlns:a16="http://schemas.microsoft.com/office/drawing/2014/main" id="{910EEF0B-05D8-BE06-CB9D-A89852E3E48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9F22419-E0BE-F0E5-252F-D937FA5381D6}"/>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2808153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E3A04-5963-D67B-B930-1C20CF0F367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B5737B6B-A1DB-929D-068D-002EF66E14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891A930C-D961-1F81-448B-1686F953F3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CC40BDAE-ADE7-086B-95C5-8E13EB55F52F}"/>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6" name="Footer Placeholder 5">
            <a:extLst>
              <a:ext uri="{FF2B5EF4-FFF2-40B4-BE49-F238E27FC236}">
                <a16:creationId xmlns:a16="http://schemas.microsoft.com/office/drawing/2014/main" id="{B0F137A5-3E1A-F398-837A-1B1EB330030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69CA1231-AA65-6D00-35A2-7CCA98803FC6}"/>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428902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9C8F-E1A6-A6D0-F11F-CFA7ADB38552}"/>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79E3A21-D754-75A2-0555-FF41C4B206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6CE049-78E3-D1EB-9A92-E2B9EB123F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A9E05765-7399-4CA8-0DA0-B16EE6E057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2C9B89-24F5-7597-D978-76E3501AB8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6B903788-FA17-7B1D-9A69-9F2930645A3B}"/>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8" name="Footer Placeholder 7">
            <a:extLst>
              <a:ext uri="{FF2B5EF4-FFF2-40B4-BE49-F238E27FC236}">
                <a16:creationId xmlns:a16="http://schemas.microsoft.com/office/drawing/2014/main" id="{AA88E739-676C-17B4-828C-4A3946F66BC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C8539332-0A59-76B6-5E28-F5104B69DD14}"/>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988939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2CF4-13D3-5EB2-616D-A3583B642D16}"/>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A0BB04B0-FD38-AD9E-5179-CC5671CC3D50}"/>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4" name="Footer Placeholder 3">
            <a:extLst>
              <a:ext uri="{FF2B5EF4-FFF2-40B4-BE49-F238E27FC236}">
                <a16:creationId xmlns:a16="http://schemas.microsoft.com/office/drawing/2014/main" id="{C2D65DCB-CC47-5534-FA9C-F3F7D34A078A}"/>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E92CAA0D-B0EB-C48B-725A-4A1F590F1F29}"/>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275781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E7714A-27C1-892F-2D6C-AD92379FD538}"/>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3" name="Footer Placeholder 2">
            <a:extLst>
              <a:ext uri="{FF2B5EF4-FFF2-40B4-BE49-F238E27FC236}">
                <a16:creationId xmlns:a16="http://schemas.microsoft.com/office/drawing/2014/main" id="{7B88F9A4-57EE-10AE-41E1-722892BD1D2E}"/>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5077867-7090-F3B8-1027-B755C2F1A1F4}"/>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544814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72D61-DD74-EE74-634F-6FE1F77B7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8628F93-0C96-1736-F1A2-AFAAC4B008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4AA3BEF3-0591-9FE2-DBEC-8C882116A0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B48509-363D-C652-E70D-B61F0D3295E0}"/>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6" name="Footer Placeholder 5">
            <a:extLst>
              <a:ext uri="{FF2B5EF4-FFF2-40B4-BE49-F238E27FC236}">
                <a16:creationId xmlns:a16="http://schemas.microsoft.com/office/drawing/2014/main" id="{E1FCCF13-6C65-0D9F-47A0-3B6DA3ED5FBE}"/>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832D41B-FA8B-FF8A-D322-47BA7E298847}"/>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3602610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1DA58-7788-C2A2-2137-FB8055C93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57B90585-44E9-009E-8B60-EBA1B6EE88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E2BDF4D0-3E8B-848A-BA16-4D0CB5FD2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74BCA-FB75-5E07-9E72-5AEE070CEF1C}"/>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6" name="Footer Placeholder 5">
            <a:extLst>
              <a:ext uri="{FF2B5EF4-FFF2-40B4-BE49-F238E27FC236}">
                <a16:creationId xmlns:a16="http://schemas.microsoft.com/office/drawing/2014/main" id="{54DD5189-6393-DB5C-823F-CED9A599E16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7C3E4DE-525C-5D0D-1D18-1F1854D8444A}"/>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108993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2AEFB-1DB3-5DCC-CD35-3C0150F00FA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A97CAD8A-C2C0-C46B-CBF6-C8A6E1A35B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C1C5568-34E8-F35C-3D92-CF3947E0D64E}"/>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5" name="Footer Placeholder 4">
            <a:extLst>
              <a:ext uri="{FF2B5EF4-FFF2-40B4-BE49-F238E27FC236}">
                <a16:creationId xmlns:a16="http://schemas.microsoft.com/office/drawing/2014/main" id="{767DD954-DF58-AA0B-888A-1EEB7433EE5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3AF886E-B1D3-9C29-F183-19D924E7E3B5}"/>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557895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540921-FC3D-CDAD-C0D6-F362B63E27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C8D47674-2805-E404-9E8A-2953FE1610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0BEA4D1-3563-88B6-35E5-A6ADC1725DBC}"/>
              </a:ext>
            </a:extLst>
          </p:cNvPr>
          <p:cNvSpPr>
            <a:spLocks noGrp="1"/>
          </p:cNvSpPr>
          <p:nvPr>
            <p:ph type="dt" sz="half" idx="10"/>
          </p:nvPr>
        </p:nvSpPr>
        <p:spPr/>
        <p:txBody>
          <a:bodyPr/>
          <a:lstStyle/>
          <a:p>
            <a:fld id="{C78DEE37-EE2F-4A29-9839-12ACB1FDC96C}" type="datetimeFigureOut">
              <a:rPr lang="en-IL" smtClean="0"/>
              <a:t>29/05/2025</a:t>
            </a:fld>
            <a:endParaRPr lang="en-IL"/>
          </a:p>
        </p:txBody>
      </p:sp>
      <p:sp>
        <p:nvSpPr>
          <p:cNvPr id="5" name="Footer Placeholder 4">
            <a:extLst>
              <a:ext uri="{FF2B5EF4-FFF2-40B4-BE49-F238E27FC236}">
                <a16:creationId xmlns:a16="http://schemas.microsoft.com/office/drawing/2014/main" id="{B2F4ED0D-98FD-CD26-0E7B-598785182CB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8FD9764-5924-A789-6DD7-AF2FE24717C9}"/>
              </a:ext>
            </a:extLst>
          </p:cNvPr>
          <p:cNvSpPr>
            <a:spLocks noGrp="1"/>
          </p:cNvSpPr>
          <p:nvPr>
            <p:ph type="sldNum" sz="quarter" idx="12"/>
          </p:nvPr>
        </p:nvSpPr>
        <p:spPr/>
        <p:txBody>
          <a:bodyPr/>
          <a:lstStyle/>
          <a:p>
            <a:fld id="{49C37C0E-FA3B-49B9-98A6-3B658D1881FE}" type="slidenum">
              <a:rPr lang="en-IL" smtClean="0"/>
              <a:t>‹#›</a:t>
            </a:fld>
            <a:endParaRPr lang="en-IL"/>
          </a:p>
        </p:txBody>
      </p:sp>
    </p:spTree>
    <p:extLst>
      <p:ext uri="{BB962C8B-B14F-4D97-AF65-F5344CB8AC3E}">
        <p14:creationId xmlns:p14="http://schemas.microsoft.com/office/powerpoint/2010/main" val="4111577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470008-827B-0756-740C-B33904E0F1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5B8AB26-3581-5A51-F572-1A13F0BAAB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2691AFF-6658-A60F-45CC-13047DD177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8DEE37-EE2F-4A29-9839-12ACB1FDC96C}" type="datetimeFigureOut">
              <a:rPr lang="en-IL" smtClean="0"/>
              <a:t>29/05/2025</a:t>
            </a:fld>
            <a:endParaRPr lang="en-IL"/>
          </a:p>
        </p:txBody>
      </p:sp>
      <p:sp>
        <p:nvSpPr>
          <p:cNvPr id="5" name="Footer Placeholder 4">
            <a:extLst>
              <a:ext uri="{FF2B5EF4-FFF2-40B4-BE49-F238E27FC236}">
                <a16:creationId xmlns:a16="http://schemas.microsoft.com/office/drawing/2014/main" id="{9CE0E518-6BF9-5057-6FB1-752AD7C8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26666F92-9F90-B102-9B0C-209079F6BD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C37C0E-FA3B-49B9-98A6-3B658D1881FE}" type="slidenum">
              <a:rPr lang="en-IL" smtClean="0"/>
              <a:t>‹#›</a:t>
            </a:fld>
            <a:endParaRPr lang="en-IL"/>
          </a:p>
        </p:txBody>
      </p:sp>
    </p:spTree>
    <p:extLst>
      <p:ext uri="{BB962C8B-B14F-4D97-AF65-F5344CB8AC3E}">
        <p14:creationId xmlns:p14="http://schemas.microsoft.com/office/powerpoint/2010/main" val="4204257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10.png"/><Relationship Id="rId7" Type="http://schemas.openxmlformats.org/officeDocument/2006/relationships/image" Target="../media/image14.svg"/><Relationship Id="rId12"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5.sv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4"/>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6636CF-207C-82EF-E437-5F6E2F34A4BF}"/>
              </a:ext>
            </a:extLst>
          </p:cNvPr>
          <p:cNvPicPr>
            <a:picLocks noChangeAspect="1"/>
          </p:cNvPicPr>
          <p:nvPr/>
        </p:nvPicPr>
        <p:blipFill>
          <a:blip r:embed="rId3">
            <a:clrChange>
              <a:clrFrom>
                <a:srgbClr val="FAF8EC"/>
              </a:clrFrom>
              <a:clrTo>
                <a:srgbClr val="FAF8EC">
                  <a:alpha val="0"/>
                </a:srgbClr>
              </a:clrTo>
            </a:clrChange>
          </a:blip>
          <a:srcRect l="6234" t="4524" r="5112" b="2781"/>
          <a:stretch/>
        </p:blipFill>
        <p:spPr>
          <a:xfrm>
            <a:off x="435306" y="928916"/>
            <a:ext cx="5276066" cy="5291183"/>
          </a:xfrm>
          <a:prstGeom prst="roundRect">
            <a:avLst>
              <a:gd name="adj" fmla="val 23353"/>
            </a:avLst>
          </a:prstGeom>
        </p:spPr>
      </p:pic>
      <p:sp>
        <p:nvSpPr>
          <p:cNvPr id="9" name="TextBox 8">
            <a:extLst>
              <a:ext uri="{FF2B5EF4-FFF2-40B4-BE49-F238E27FC236}">
                <a16:creationId xmlns:a16="http://schemas.microsoft.com/office/drawing/2014/main" id="{DA260254-4F36-54D7-EF9D-BBE3A05B2969}"/>
              </a:ext>
            </a:extLst>
          </p:cNvPr>
          <p:cNvSpPr txBox="1"/>
          <p:nvPr/>
        </p:nvSpPr>
        <p:spPr>
          <a:xfrm>
            <a:off x="6030686" y="1474619"/>
            <a:ext cx="6212114" cy="3908762"/>
          </a:xfrm>
          <a:prstGeom prst="rect">
            <a:avLst/>
          </a:prstGeom>
          <a:noFill/>
        </p:spPr>
        <p:txBody>
          <a:bodyPr wrap="square">
            <a:spAutoFit/>
          </a:bodyPr>
          <a:lstStyle/>
          <a:p>
            <a:pPr>
              <a:buNone/>
            </a:pPr>
            <a:r>
              <a:rPr lang="en-US" sz="8000" b="1" dirty="0"/>
              <a:t>Plateful </a:t>
            </a:r>
          </a:p>
          <a:p>
            <a:pPr>
              <a:buNone/>
            </a:pPr>
            <a:r>
              <a:rPr lang="en-US" sz="4400" b="1" dirty="0"/>
              <a:t>Gamify your wellness habits with Guaco</a:t>
            </a:r>
          </a:p>
          <a:p>
            <a:endParaRPr lang="en-US" sz="2000" dirty="0"/>
          </a:p>
          <a:p>
            <a:r>
              <a:rPr lang="en-US" sz="2000" dirty="0"/>
              <a:t>A wellness-focused app that acts as your personal support buddy, helping you build and stick to healthy habits.</a:t>
            </a:r>
          </a:p>
        </p:txBody>
      </p:sp>
    </p:spTree>
    <p:extLst>
      <p:ext uri="{BB962C8B-B14F-4D97-AF65-F5344CB8AC3E}">
        <p14:creationId xmlns:p14="http://schemas.microsoft.com/office/powerpoint/2010/main" val="150425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4"/>
        </a:solidFill>
        <a:effectLst/>
      </p:bgPr>
    </p:bg>
    <p:spTree>
      <p:nvGrpSpPr>
        <p:cNvPr id="1" name="">
          <a:extLst>
            <a:ext uri="{FF2B5EF4-FFF2-40B4-BE49-F238E27FC236}">
              <a16:creationId xmlns:a16="http://schemas.microsoft.com/office/drawing/2014/main" id="{419C9801-A1A7-5925-0155-3B24728E4AC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043DD35-15FF-D989-1BC9-7E1E85DEA549}"/>
              </a:ext>
            </a:extLst>
          </p:cNvPr>
          <p:cNvSpPr txBox="1"/>
          <p:nvPr/>
        </p:nvSpPr>
        <p:spPr>
          <a:xfrm>
            <a:off x="6030686" y="1474619"/>
            <a:ext cx="6212114" cy="3908762"/>
          </a:xfrm>
          <a:prstGeom prst="rect">
            <a:avLst/>
          </a:prstGeom>
          <a:noFill/>
        </p:spPr>
        <p:txBody>
          <a:bodyPr wrap="square">
            <a:spAutoFit/>
          </a:bodyPr>
          <a:lstStyle/>
          <a:p>
            <a:pPr>
              <a:buNone/>
            </a:pPr>
            <a:r>
              <a:rPr lang="en-US" sz="8000" b="1" dirty="0"/>
              <a:t>Guaco</a:t>
            </a:r>
          </a:p>
          <a:p>
            <a:pPr>
              <a:buNone/>
            </a:pPr>
            <a:r>
              <a:rPr lang="en-US" sz="4400" b="1" dirty="0"/>
              <a:t>Gamify your wellness habits with an AI coach</a:t>
            </a:r>
          </a:p>
          <a:p>
            <a:endParaRPr lang="en-US" sz="2000" dirty="0"/>
          </a:p>
          <a:p>
            <a:r>
              <a:rPr lang="en-US" sz="2000" dirty="0"/>
              <a:t>A wellness-focused app that acts as your personal support buddy, helping you build and stick to healthy habits.</a:t>
            </a:r>
          </a:p>
        </p:txBody>
      </p:sp>
      <p:pic>
        <p:nvPicPr>
          <p:cNvPr id="5" name="Picture 4" descr="A cartoon avocado wearing sunglasses&#10;&#10;AI-generated content may be incorrect.">
            <a:extLst>
              <a:ext uri="{FF2B5EF4-FFF2-40B4-BE49-F238E27FC236}">
                <a16:creationId xmlns:a16="http://schemas.microsoft.com/office/drawing/2014/main" id="{C41EBB4D-F2EB-854E-1078-EEBFFB9A3767}"/>
              </a:ext>
            </a:extLst>
          </p:cNvPr>
          <p:cNvPicPr>
            <a:picLocks noChangeAspect="1"/>
          </p:cNvPicPr>
          <p:nvPr/>
        </p:nvPicPr>
        <p:blipFill>
          <a:blip r:embed="rId3"/>
          <a:stretch>
            <a:fillRect/>
          </a:stretch>
        </p:blipFill>
        <p:spPr>
          <a:xfrm>
            <a:off x="790575" y="990600"/>
            <a:ext cx="4781550" cy="51054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917101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4"/>
        </a:solidFill>
        <a:effectLst/>
      </p:bgPr>
    </p:bg>
    <p:spTree>
      <p:nvGrpSpPr>
        <p:cNvPr id="1" name="">
          <a:extLst>
            <a:ext uri="{FF2B5EF4-FFF2-40B4-BE49-F238E27FC236}">
              <a16:creationId xmlns:a16="http://schemas.microsoft.com/office/drawing/2014/main" id="{631DCC5C-5494-7697-0439-F26102550BA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F39A0F9-1162-297E-48F0-6FA493AD93EA}"/>
              </a:ext>
            </a:extLst>
          </p:cNvPr>
          <p:cNvSpPr txBox="1"/>
          <p:nvPr/>
        </p:nvSpPr>
        <p:spPr>
          <a:xfrm>
            <a:off x="6030686" y="1474619"/>
            <a:ext cx="6212114" cy="3908762"/>
          </a:xfrm>
          <a:prstGeom prst="rect">
            <a:avLst/>
          </a:prstGeom>
          <a:noFill/>
        </p:spPr>
        <p:txBody>
          <a:bodyPr wrap="square">
            <a:spAutoFit/>
          </a:bodyPr>
          <a:lstStyle/>
          <a:p>
            <a:pPr>
              <a:buNone/>
            </a:pPr>
            <a:r>
              <a:rPr lang="en-US" sz="8000" b="1" dirty="0"/>
              <a:t>Guaco</a:t>
            </a:r>
          </a:p>
          <a:p>
            <a:pPr>
              <a:buNone/>
            </a:pPr>
            <a:r>
              <a:rPr lang="en-US" sz="4400" b="1" dirty="0"/>
              <a:t>Gamify your wellness habits with AI coach</a:t>
            </a:r>
          </a:p>
          <a:p>
            <a:endParaRPr lang="en-US" sz="2000" dirty="0"/>
          </a:p>
          <a:p>
            <a:r>
              <a:rPr lang="en-US" sz="2000" dirty="0"/>
              <a:t>A wellness-focused app that acts as your personal support buddy, helping you build and stick to healthy habits.</a:t>
            </a:r>
          </a:p>
        </p:txBody>
      </p:sp>
      <p:pic>
        <p:nvPicPr>
          <p:cNvPr id="3" name="Picture 2" descr="A cartoon avocado wearing sunglasses&#10;&#10;AI-generated content may be incorrect.">
            <a:extLst>
              <a:ext uri="{FF2B5EF4-FFF2-40B4-BE49-F238E27FC236}">
                <a16:creationId xmlns:a16="http://schemas.microsoft.com/office/drawing/2014/main" id="{7D9359E6-6CC6-36AC-5E61-5430C2134976}"/>
              </a:ext>
            </a:extLst>
          </p:cNvPr>
          <p:cNvPicPr>
            <a:picLocks noChangeAspect="1"/>
          </p:cNvPicPr>
          <p:nvPr/>
        </p:nvPicPr>
        <p:blipFill>
          <a:blip r:embed="rId3"/>
          <a:stretch>
            <a:fillRect/>
          </a:stretch>
        </p:blipFill>
        <p:spPr>
          <a:xfrm>
            <a:off x="904875" y="1042987"/>
            <a:ext cx="4772025" cy="47720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extBox 5">
            <a:extLst>
              <a:ext uri="{FF2B5EF4-FFF2-40B4-BE49-F238E27FC236}">
                <a16:creationId xmlns:a16="http://schemas.microsoft.com/office/drawing/2014/main" id="{2A57850E-5D4A-4005-7FF4-7326D48AF591}"/>
              </a:ext>
            </a:extLst>
          </p:cNvPr>
          <p:cNvSpPr txBox="1"/>
          <p:nvPr/>
        </p:nvSpPr>
        <p:spPr>
          <a:xfrm>
            <a:off x="2076450" y="5815012"/>
            <a:ext cx="4190999" cy="923330"/>
          </a:xfrm>
          <a:prstGeom prst="rect">
            <a:avLst/>
          </a:prstGeom>
          <a:noFill/>
          <a:ln>
            <a:noFill/>
          </a:ln>
        </p:spPr>
        <p:txBody>
          <a:bodyPr wrap="square">
            <a:spAutoFit/>
          </a:bodyPr>
          <a:lstStyle/>
          <a:p>
            <a:r>
              <a:rPr lang="en-US" sz="5400" b="1" dirty="0">
                <a:ln>
                  <a:solidFill>
                    <a:sysClr val="windowText" lastClr="000000"/>
                  </a:solidFill>
                </a:ln>
                <a:solidFill>
                  <a:schemeClr val="bg2"/>
                </a:solidFill>
              </a:rPr>
              <a:t>Guaco</a:t>
            </a:r>
            <a:endParaRPr lang="en-IL" sz="5400" dirty="0">
              <a:ln>
                <a:solidFill>
                  <a:sysClr val="windowText" lastClr="000000"/>
                </a:solidFill>
              </a:ln>
              <a:solidFill>
                <a:schemeClr val="bg2"/>
              </a:solidFill>
            </a:endParaRPr>
          </a:p>
        </p:txBody>
      </p:sp>
    </p:spTree>
    <p:extLst>
      <p:ext uri="{BB962C8B-B14F-4D97-AF65-F5344CB8AC3E}">
        <p14:creationId xmlns:p14="http://schemas.microsoft.com/office/powerpoint/2010/main" val="4282735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A person's hands holding a book with writing on it&#10;&#10;AI-generated content may be incorrect.">
            <a:extLst>
              <a:ext uri="{FF2B5EF4-FFF2-40B4-BE49-F238E27FC236}">
                <a16:creationId xmlns:a16="http://schemas.microsoft.com/office/drawing/2014/main" id="{1B7D4756-5441-DCAB-3F93-61986E1BD1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2807"/>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398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9F6"/>
        </a:solidFill>
        <a:effectLst/>
      </p:bgPr>
    </p:bg>
    <p:spTree>
      <p:nvGrpSpPr>
        <p:cNvPr id="1" name=""/>
        <p:cNvGrpSpPr/>
        <p:nvPr/>
      </p:nvGrpSpPr>
      <p:grpSpPr>
        <a:xfrm>
          <a:off x="0" y="0"/>
          <a:ext cx="0" cy="0"/>
          <a:chOff x="0" y="0"/>
          <a:chExt cx="0" cy="0"/>
        </a:xfrm>
      </p:grpSpPr>
      <p:pic>
        <p:nvPicPr>
          <p:cNvPr id="4" name="Picture 3" descr="A cartoon of a avocado running&#10;&#10;AI-generated content may be incorrect.">
            <a:extLst>
              <a:ext uri="{FF2B5EF4-FFF2-40B4-BE49-F238E27FC236}">
                <a16:creationId xmlns:a16="http://schemas.microsoft.com/office/drawing/2014/main" id="{365E94E9-E209-3796-532A-0C63217D69D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8594" r="40078"/>
          <a:stretch/>
        </p:blipFill>
        <p:spPr>
          <a:xfrm flipH="1">
            <a:off x="259554" y="2533553"/>
            <a:ext cx="2257424" cy="2609850"/>
          </a:xfrm>
          <a:prstGeom prst="rect">
            <a:avLst/>
          </a:prstGeom>
        </p:spPr>
      </p:pic>
      <p:pic>
        <p:nvPicPr>
          <p:cNvPr id="11" name="Picture 10" descr="A cartoon of a avocado running&#10;&#10;AI-generated content may be incorrect.">
            <a:extLst>
              <a:ext uri="{FF2B5EF4-FFF2-40B4-BE49-F238E27FC236}">
                <a16:creationId xmlns:a16="http://schemas.microsoft.com/office/drawing/2014/main" id="{B830DAA0-3DF7-8239-5910-D5C720F9F3A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8594" r="40078"/>
          <a:stretch/>
        </p:blipFill>
        <p:spPr>
          <a:xfrm flipH="1">
            <a:off x="2395537" y="2533553"/>
            <a:ext cx="2257424" cy="2609850"/>
          </a:xfrm>
          <a:prstGeom prst="rect">
            <a:avLst/>
          </a:prstGeom>
        </p:spPr>
      </p:pic>
      <p:pic>
        <p:nvPicPr>
          <p:cNvPr id="12" name="Picture 11" descr="A cartoon of a avocado running&#10;&#10;AI-generated content may be incorrect.">
            <a:extLst>
              <a:ext uri="{FF2B5EF4-FFF2-40B4-BE49-F238E27FC236}">
                <a16:creationId xmlns:a16="http://schemas.microsoft.com/office/drawing/2014/main" id="{853849F9-9746-9C04-7C5C-6A4D525B9074}"/>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9922" r="20235"/>
          <a:stretch/>
        </p:blipFill>
        <p:spPr>
          <a:xfrm>
            <a:off x="4443409" y="2486025"/>
            <a:ext cx="1919291" cy="2609850"/>
          </a:xfrm>
          <a:prstGeom prst="rect">
            <a:avLst/>
          </a:prstGeom>
        </p:spPr>
      </p:pic>
      <p:pic>
        <p:nvPicPr>
          <p:cNvPr id="15" name="Picture 14" descr="A close up of a word&#10;&#10;AI-generated content may be incorrect.">
            <a:extLst>
              <a:ext uri="{FF2B5EF4-FFF2-40B4-BE49-F238E27FC236}">
                <a16:creationId xmlns:a16="http://schemas.microsoft.com/office/drawing/2014/main" id="{D209578F-89B9-DBEB-5FE5-56221FE53E9F}"/>
              </a:ext>
            </a:extLst>
          </p:cNvPr>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rcRect t="9190"/>
          <a:stretch/>
        </p:blipFill>
        <p:spPr>
          <a:xfrm>
            <a:off x="900085" y="5257800"/>
            <a:ext cx="10696629" cy="1600200"/>
          </a:xfrm>
          <a:prstGeom prst="rect">
            <a:avLst/>
          </a:prstGeom>
        </p:spPr>
      </p:pic>
      <p:pic>
        <p:nvPicPr>
          <p:cNvPr id="16" name="Picture 15" descr="A cartoon of a avocado running&#10;&#10;AI-generated content may be incorrect.">
            <a:extLst>
              <a:ext uri="{FF2B5EF4-FFF2-40B4-BE49-F238E27FC236}">
                <a16:creationId xmlns:a16="http://schemas.microsoft.com/office/drawing/2014/main" id="{C4D98D26-81BC-7535-AEB8-7160184B315C}"/>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81484"/>
          <a:stretch/>
        </p:blipFill>
        <p:spPr>
          <a:xfrm>
            <a:off x="6248399" y="2486025"/>
            <a:ext cx="1919291" cy="2609850"/>
          </a:xfrm>
          <a:prstGeom prst="rect">
            <a:avLst/>
          </a:prstGeom>
        </p:spPr>
      </p:pic>
      <p:pic>
        <p:nvPicPr>
          <p:cNvPr id="17" name="Picture 16" descr="A cartoon avocado with different expressions&#10;&#10;AI-generated content may be incorrect.">
            <a:extLst>
              <a:ext uri="{FF2B5EF4-FFF2-40B4-BE49-F238E27FC236}">
                <a16:creationId xmlns:a16="http://schemas.microsoft.com/office/drawing/2014/main" id="{620DD9BF-3C19-97DF-3513-F39169D33454}"/>
              </a:ext>
            </a:extLst>
          </p:cNvPr>
          <p:cNvPicPr>
            <a:picLocks noChangeAspect="1"/>
          </p:cNvPicPr>
          <p:nvPr/>
        </p:nvPicPr>
        <p:blipFill>
          <a:blip r:embed="rId5"/>
          <a:srcRect l="50933" t="4804" r="8644" b="46731"/>
          <a:stretch/>
        </p:blipFill>
        <p:spPr>
          <a:xfrm>
            <a:off x="8296173" y="1075578"/>
            <a:ext cx="3353013" cy="4020103"/>
          </a:xfrm>
          <a:prstGeom prst="rect">
            <a:avLst/>
          </a:prstGeom>
        </p:spPr>
      </p:pic>
      <p:pic>
        <p:nvPicPr>
          <p:cNvPr id="6146" name="Picture 2" descr="Oh No Stock Illustrations – 200 Oh No Stock Illustrations, Vectors &amp; Clipart  - Dreamstime">
            <a:extLst>
              <a:ext uri="{FF2B5EF4-FFF2-40B4-BE49-F238E27FC236}">
                <a16:creationId xmlns:a16="http://schemas.microsoft.com/office/drawing/2014/main" id="{B71AC6A2-CC0F-9743-8E7B-363DA5A5E711}"/>
              </a:ext>
            </a:extLst>
          </p:cNvPr>
          <p:cNvPicPr>
            <a:picLocks noChangeAspect="1" noChangeArrowheads="1"/>
          </p:cNvPicPr>
          <p:nvPr/>
        </p:nvPicPr>
        <p:blipFill>
          <a:blip r:embed="rId6">
            <a:clrChange>
              <a:clrFrom>
                <a:srgbClr val="FFFFFF"/>
              </a:clrFrom>
              <a:clrTo>
                <a:srgbClr val="FFFFFF">
                  <a:alpha val="0"/>
                </a:srgbClr>
              </a:clrTo>
            </a:clrChange>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719986" y="-85725"/>
            <a:ext cx="2472014" cy="1443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76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9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A9333-0D51-E921-6848-C0093B3585BA}"/>
              </a:ext>
            </a:extLst>
          </p:cNvPr>
          <p:cNvSpPr>
            <a:spLocks noGrp="1"/>
          </p:cNvSpPr>
          <p:nvPr>
            <p:ph type="title"/>
          </p:nvPr>
        </p:nvSpPr>
        <p:spPr>
          <a:xfrm>
            <a:off x="838200" y="611868"/>
            <a:ext cx="10515600" cy="1325563"/>
          </a:xfrm>
        </p:spPr>
        <p:txBody>
          <a:bodyPr>
            <a:normAutofit/>
          </a:bodyPr>
          <a:lstStyle/>
          <a:p>
            <a:r>
              <a:rPr lang="en-US" sz="6600" b="1" dirty="0"/>
              <a:t>Our Solution</a:t>
            </a:r>
            <a:endParaRPr lang="en-IL" sz="6600" dirty="0"/>
          </a:p>
        </p:txBody>
      </p:sp>
      <p:sp>
        <p:nvSpPr>
          <p:cNvPr id="3" name="Content Placeholder 2">
            <a:extLst>
              <a:ext uri="{FF2B5EF4-FFF2-40B4-BE49-F238E27FC236}">
                <a16:creationId xmlns:a16="http://schemas.microsoft.com/office/drawing/2014/main" id="{746101B5-027A-FFFE-C7A1-DD704E2AA03E}"/>
              </a:ext>
            </a:extLst>
          </p:cNvPr>
          <p:cNvSpPr>
            <a:spLocks noGrp="1"/>
          </p:cNvSpPr>
          <p:nvPr>
            <p:ph idx="1"/>
          </p:nvPr>
        </p:nvSpPr>
        <p:spPr>
          <a:xfrm>
            <a:off x="2676525" y="1807482"/>
            <a:ext cx="6534150" cy="1933575"/>
          </a:xfrm>
        </p:spPr>
        <p:txBody>
          <a:bodyPr>
            <a:noAutofit/>
          </a:bodyPr>
          <a:lstStyle/>
          <a:p>
            <a:pPr marL="0" indent="0" algn="ctr">
              <a:buNone/>
            </a:pPr>
            <a:r>
              <a:rPr lang="en-US" sz="4000" dirty="0"/>
              <a:t> </a:t>
            </a:r>
          </a:p>
          <a:p>
            <a:pPr marL="0" indent="0" algn="ctr">
              <a:buNone/>
            </a:pPr>
            <a:r>
              <a:rPr lang="en-US" sz="4000" dirty="0"/>
              <a:t>Personalized</a:t>
            </a:r>
          </a:p>
          <a:p>
            <a:pPr marL="0" indent="0" algn="ctr">
              <a:buNone/>
            </a:pPr>
            <a:r>
              <a:rPr lang="en-US" sz="4000" dirty="0"/>
              <a:t> Gamified</a:t>
            </a:r>
          </a:p>
          <a:p>
            <a:pPr marL="0" indent="0" algn="ctr">
              <a:buNone/>
            </a:pPr>
            <a:r>
              <a:rPr lang="en-US" sz="4000" dirty="0"/>
              <a:t>Time efficient</a:t>
            </a:r>
          </a:p>
          <a:p>
            <a:pPr marL="0" indent="0" algn="ctr">
              <a:buNone/>
            </a:pPr>
            <a:r>
              <a:rPr lang="en-US" sz="4000" dirty="0"/>
              <a:t>Wellness app</a:t>
            </a:r>
          </a:p>
          <a:p>
            <a:endParaRPr lang="en-IL" sz="4000" dirty="0"/>
          </a:p>
        </p:txBody>
      </p:sp>
      <p:pic>
        <p:nvPicPr>
          <p:cNvPr id="6" name="Picture 5">
            <a:extLst>
              <a:ext uri="{FF2B5EF4-FFF2-40B4-BE49-F238E27FC236}">
                <a16:creationId xmlns:a16="http://schemas.microsoft.com/office/drawing/2014/main" id="{395AB476-3D34-7D24-6E48-9FCE9D089FE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135951" y="3429000"/>
            <a:ext cx="3217974" cy="3376965"/>
          </a:xfrm>
          <a:prstGeom prst="rect">
            <a:avLst/>
          </a:prstGeom>
        </p:spPr>
      </p:pic>
    </p:spTree>
    <p:extLst>
      <p:ext uri="{BB962C8B-B14F-4D97-AF65-F5344CB8AC3E}">
        <p14:creationId xmlns:p14="http://schemas.microsoft.com/office/powerpoint/2010/main" val="408313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9F6"/>
        </a:solidFill>
        <a:effectLst/>
      </p:bgPr>
    </p:bg>
    <p:spTree>
      <p:nvGrpSpPr>
        <p:cNvPr id="1" name="">
          <a:extLst>
            <a:ext uri="{FF2B5EF4-FFF2-40B4-BE49-F238E27FC236}">
              <a16:creationId xmlns:a16="http://schemas.microsoft.com/office/drawing/2014/main" id="{B9030196-4A10-7664-1887-D7C087ACA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88988-A332-4BBB-1089-11E65CDD0218}"/>
              </a:ext>
            </a:extLst>
          </p:cNvPr>
          <p:cNvSpPr>
            <a:spLocks noGrp="1"/>
          </p:cNvSpPr>
          <p:nvPr>
            <p:ph type="title"/>
          </p:nvPr>
        </p:nvSpPr>
        <p:spPr>
          <a:xfrm>
            <a:off x="838200" y="611868"/>
            <a:ext cx="10515600" cy="1325563"/>
          </a:xfrm>
        </p:spPr>
        <p:txBody>
          <a:bodyPr>
            <a:normAutofit/>
          </a:bodyPr>
          <a:lstStyle/>
          <a:p>
            <a:r>
              <a:rPr lang="en-US" b="1" dirty="0"/>
              <a:t>Introducing Guaco </a:t>
            </a:r>
          </a:p>
        </p:txBody>
      </p:sp>
      <p:pic>
        <p:nvPicPr>
          <p:cNvPr id="21" name="Picture 20">
            <a:extLst>
              <a:ext uri="{FF2B5EF4-FFF2-40B4-BE49-F238E27FC236}">
                <a16:creationId xmlns:a16="http://schemas.microsoft.com/office/drawing/2014/main" id="{A4AC0187-F422-FC44-6EE9-48B5CA31FE7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95949" y="2373598"/>
            <a:ext cx="3034837" cy="3275607"/>
          </a:xfrm>
          <a:prstGeom prst="rect">
            <a:avLst/>
          </a:prstGeom>
        </p:spPr>
      </p:pic>
      <p:grpSp>
        <p:nvGrpSpPr>
          <p:cNvPr id="24" name="Group 23">
            <a:extLst>
              <a:ext uri="{FF2B5EF4-FFF2-40B4-BE49-F238E27FC236}">
                <a16:creationId xmlns:a16="http://schemas.microsoft.com/office/drawing/2014/main" id="{8B2950C2-D53B-79DD-9828-A5C621A0AC7A}"/>
              </a:ext>
            </a:extLst>
          </p:cNvPr>
          <p:cNvGrpSpPr/>
          <p:nvPr/>
        </p:nvGrpSpPr>
        <p:grpSpPr>
          <a:xfrm>
            <a:off x="4495001" y="2210266"/>
            <a:ext cx="2289629" cy="1508741"/>
            <a:chOff x="838200" y="2664585"/>
            <a:chExt cx="2289629" cy="1508741"/>
          </a:xfrm>
        </p:grpSpPr>
        <p:sp>
          <p:nvSpPr>
            <p:cNvPr id="12" name="TextBox 11">
              <a:extLst>
                <a:ext uri="{FF2B5EF4-FFF2-40B4-BE49-F238E27FC236}">
                  <a16:creationId xmlns:a16="http://schemas.microsoft.com/office/drawing/2014/main" id="{9839AE99-9375-613F-4DFE-C992F26D1913}"/>
                </a:ext>
              </a:extLst>
            </p:cNvPr>
            <p:cNvSpPr txBox="1"/>
            <p:nvPr/>
          </p:nvSpPr>
          <p:spPr>
            <a:xfrm>
              <a:off x="838200" y="3588551"/>
              <a:ext cx="2289629" cy="584775"/>
            </a:xfrm>
            <a:prstGeom prst="rect">
              <a:avLst/>
            </a:prstGeom>
            <a:noFill/>
          </p:spPr>
          <p:txBody>
            <a:bodyPr wrap="square" rtlCol="0">
              <a:spAutoFit/>
            </a:bodyPr>
            <a:lstStyle/>
            <a:p>
              <a:r>
                <a:rPr lang="en-US" sz="3200" dirty="0"/>
                <a:t>AI coach</a:t>
              </a:r>
              <a:endParaRPr lang="en-IL" sz="3200" dirty="0"/>
            </a:p>
          </p:txBody>
        </p:sp>
        <p:pic>
          <p:nvPicPr>
            <p:cNvPr id="23" name="Graphic 22" descr="Robot outline">
              <a:extLst>
                <a:ext uri="{FF2B5EF4-FFF2-40B4-BE49-F238E27FC236}">
                  <a16:creationId xmlns:a16="http://schemas.microsoft.com/office/drawing/2014/main" id="{BAE92BF9-C405-6D4D-D9C8-6D67A9FDC5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21019" y="2664585"/>
              <a:ext cx="914400" cy="914400"/>
            </a:xfrm>
            <a:prstGeom prst="rect">
              <a:avLst/>
            </a:prstGeom>
          </p:spPr>
        </p:pic>
      </p:grpSp>
      <p:grpSp>
        <p:nvGrpSpPr>
          <p:cNvPr id="35" name="Group 34">
            <a:extLst>
              <a:ext uri="{FF2B5EF4-FFF2-40B4-BE49-F238E27FC236}">
                <a16:creationId xmlns:a16="http://schemas.microsoft.com/office/drawing/2014/main" id="{A23A0A9F-2446-CE72-604D-773703EAD33B}"/>
              </a:ext>
            </a:extLst>
          </p:cNvPr>
          <p:cNvGrpSpPr/>
          <p:nvPr/>
        </p:nvGrpSpPr>
        <p:grpSpPr>
          <a:xfrm>
            <a:off x="6745278" y="4305043"/>
            <a:ext cx="1763486" cy="1627878"/>
            <a:chOff x="7376367" y="2504892"/>
            <a:chExt cx="1763486" cy="1627878"/>
          </a:xfrm>
        </p:grpSpPr>
        <p:sp>
          <p:nvSpPr>
            <p:cNvPr id="15" name="TextBox 14">
              <a:extLst>
                <a:ext uri="{FF2B5EF4-FFF2-40B4-BE49-F238E27FC236}">
                  <a16:creationId xmlns:a16="http://schemas.microsoft.com/office/drawing/2014/main" id="{5E5CAC65-493F-1DDC-C843-6DFD7D0D55E0}"/>
                </a:ext>
              </a:extLst>
            </p:cNvPr>
            <p:cNvSpPr txBox="1"/>
            <p:nvPr/>
          </p:nvSpPr>
          <p:spPr>
            <a:xfrm>
              <a:off x="7376367" y="3547995"/>
              <a:ext cx="1763486" cy="584775"/>
            </a:xfrm>
            <a:prstGeom prst="rect">
              <a:avLst/>
            </a:prstGeom>
            <a:noFill/>
          </p:spPr>
          <p:txBody>
            <a:bodyPr wrap="square" rtlCol="0">
              <a:spAutoFit/>
            </a:bodyPr>
            <a:lstStyle/>
            <a:p>
              <a:r>
                <a:rPr lang="en-US" sz="3200" dirty="0"/>
                <a:t>Friends</a:t>
              </a:r>
              <a:endParaRPr lang="en-IL" sz="3200" dirty="0"/>
            </a:p>
          </p:txBody>
        </p:sp>
        <p:pic>
          <p:nvPicPr>
            <p:cNvPr id="34" name="Graphic 33" descr="Polaroid Pictures outline">
              <a:extLst>
                <a:ext uri="{FF2B5EF4-FFF2-40B4-BE49-F238E27FC236}">
                  <a16:creationId xmlns:a16="http://schemas.microsoft.com/office/drawing/2014/main" id="{36F9C565-036E-78E0-B8D6-EEF3721658E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07817" y="2504892"/>
              <a:ext cx="914400" cy="914400"/>
            </a:xfrm>
            <a:prstGeom prst="rect">
              <a:avLst/>
            </a:prstGeom>
          </p:spPr>
        </p:pic>
      </p:grpSp>
      <p:grpSp>
        <p:nvGrpSpPr>
          <p:cNvPr id="48" name="Group 47">
            <a:extLst>
              <a:ext uri="{FF2B5EF4-FFF2-40B4-BE49-F238E27FC236}">
                <a16:creationId xmlns:a16="http://schemas.microsoft.com/office/drawing/2014/main" id="{D43801E0-BEDC-BC4E-A0AF-00769EE82D6E}"/>
              </a:ext>
            </a:extLst>
          </p:cNvPr>
          <p:cNvGrpSpPr/>
          <p:nvPr/>
        </p:nvGrpSpPr>
        <p:grpSpPr>
          <a:xfrm>
            <a:off x="4532982" y="3909194"/>
            <a:ext cx="2289629" cy="2588836"/>
            <a:chOff x="8811150" y="3897772"/>
            <a:chExt cx="2289629" cy="2588836"/>
          </a:xfrm>
        </p:grpSpPr>
        <p:sp>
          <p:nvSpPr>
            <p:cNvPr id="17" name="TextBox 16">
              <a:extLst>
                <a:ext uri="{FF2B5EF4-FFF2-40B4-BE49-F238E27FC236}">
                  <a16:creationId xmlns:a16="http://schemas.microsoft.com/office/drawing/2014/main" id="{39E194E7-66FD-D5FE-01EA-B464B496DE1F}"/>
                </a:ext>
              </a:extLst>
            </p:cNvPr>
            <p:cNvSpPr txBox="1"/>
            <p:nvPr/>
          </p:nvSpPr>
          <p:spPr>
            <a:xfrm>
              <a:off x="8811150" y="5409390"/>
              <a:ext cx="2289629" cy="1077218"/>
            </a:xfrm>
            <a:prstGeom prst="rect">
              <a:avLst/>
            </a:prstGeom>
            <a:noFill/>
          </p:spPr>
          <p:txBody>
            <a:bodyPr wrap="square" rtlCol="0">
              <a:spAutoFit/>
            </a:bodyPr>
            <a:lstStyle/>
            <a:p>
              <a:r>
                <a:rPr lang="en-US" sz="3200" dirty="0"/>
                <a:t>Quests &amp; Badges</a:t>
              </a:r>
              <a:endParaRPr lang="en-IL" sz="3200" dirty="0"/>
            </a:p>
          </p:txBody>
        </p:sp>
        <p:pic>
          <p:nvPicPr>
            <p:cNvPr id="40" name="Picture 39">
              <a:extLst>
                <a:ext uri="{FF2B5EF4-FFF2-40B4-BE49-F238E27FC236}">
                  <a16:creationId xmlns:a16="http://schemas.microsoft.com/office/drawing/2014/main" id="{CBE9383E-4487-8A1B-140F-0BD7A60869A9}"/>
                </a:ext>
              </a:extLst>
            </p:cNvPr>
            <p:cNvPicPr>
              <a:picLocks noChangeAspect="1"/>
            </p:cNvPicPr>
            <p:nvPr/>
          </p:nvPicPr>
          <p:blipFill>
            <a:blip r:embed="rId8">
              <a:clrChange>
                <a:clrFrom>
                  <a:srgbClr val="21201D"/>
                </a:clrFrom>
                <a:clrTo>
                  <a:srgbClr val="21201D">
                    <a:alpha val="0"/>
                  </a:srgbClr>
                </a:clrTo>
              </a:clrChange>
              <a:duotone>
                <a:schemeClr val="bg2">
                  <a:shade val="45000"/>
                  <a:satMod val="135000"/>
                </a:schemeClr>
                <a:prstClr val="white"/>
              </a:duotone>
            </a:blip>
            <a:stretch>
              <a:fillRect/>
            </a:stretch>
          </p:blipFill>
          <p:spPr>
            <a:xfrm>
              <a:off x="8976358" y="3897772"/>
              <a:ext cx="1091567" cy="1500483"/>
            </a:xfrm>
            <a:prstGeom prst="rect">
              <a:avLst/>
            </a:prstGeom>
          </p:spPr>
        </p:pic>
      </p:grpSp>
      <p:pic>
        <p:nvPicPr>
          <p:cNvPr id="41" name="Picture 40">
            <a:extLst>
              <a:ext uri="{FF2B5EF4-FFF2-40B4-BE49-F238E27FC236}">
                <a16:creationId xmlns:a16="http://schemas.microsoft.com/office/drawing/2014/main" id="{AA9A54E5-C440-52CE-3624-EE9484F31B13}"/>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1171102" y="2056733"/>
            <a:ext cx="2919108" cy="3909336"/>
          </a:xfrm>
          <a:prstGeom prst="rect">
            <a:avLst/>
          </a:prstGeom>
        </p:spPr>
      </p:pic>
      <p:grpSp>
        <p:nvGrpSpPr>
          <p:cNvPr id="44" name="Group 43">
            <a:extLst>
              <a:ext uri="{FF2B5EF4-FFF2-40B4-BE49-F238E27FC236}">
                <a16:creationId xmlns:a16="http://schemas.microsoft.com/office/drawing/2014/main" id="{67EB8CC7-D766-6D1C-16FF-B3E6D493A30A}"/>
              </a:ext>
            </a:extLst>
          </p:cNvPr>
          <p:cNvGrpSpPr/>
          <p:nvPr/>
        </p:nvGrpSpPr>
        <p:grpSpPr>
          <a:xfrm>
            <a:off x="8315671" y="2243152"/>
            <a:ext cx="2605314" cy="1472820"/>
            <a:chOff x="8315671" y="2243152"/>
            <a:chExt cx="2605314" cy="1472820"/>
          </a:xfrm>
        </p:grpSpPr>
        <p:sp>
          <p:nvSpPr>
            <p:cNvPr id="14" name="TextBox 13">
              <a:extLst>
                <a:ext uri="{FF2B5EF4-FFF2-40B4-BE49-F238E27FC236}">
                  <a16:creationId xmlns:a16="http://schemas.microsoft.com/office/drawing/2014/main" id="{3C41FA3F-9735-3674-2DAD-5108BB9FBBDC}"/>
                </a:ext>
              </a:extLst>
            </p:cNvPr>
            <p:cNvSpPr txBox="1"/>
            <p:nvPr/>
          </p:nvSpPr>
          <p:spPr>
            <a:xfrm>
              <a:off x="8315671" y="3131197"/>
              <a:ext cx="2605314" cy="584775"/>
            </a:xfrm>
            <a:prstGeom prst="rect">
              <a:avLst/>
            </a:prstGeom>
            <a:noFill/>
          </p:spPr>
          <p:txBody>
            <a:bodyPr wrap="square" rtlCol="0">
              <a:spAutoFit/>
            </a:bodyPr>
            <a:lstStyle/>
            <a:p>
              <a:r>
                <a:rPr lang="en-US" sz="3200" dirty="0"/>
                <a:t>Grocery List</a:t>
              </a:r>
              <a:endParaRPr lang="en-IL" sz="3200" dirty="0"/>
            </a:p>
          </p:txBody>
        </p:sp>
        <p:pic>
          <p:nvPicPr>
            <p:cNvPr id="43" name="Graphic 42" descr="Shopping cart outline">
              <a:extLst>
                <a:ext uri="{FF2B5EF4-FFF2-40B4-BE49-F238E27FC236}">
                  <a16:creationId xmlns:a16="http://schemas.microsoft.com/office/drawing/2014/main" id="{AECB8143-35AF-99E8-D484-A96F4EEF5C3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98783" y="2243152"/>
              <a:ext cx="914400" cy="914400"/>
            </a:xfrm>
            <a:prstGeom prst="rect">
              <a:avLst/>
            </a:prstGeom>
          </p:spPr>
        </p:pic>
      </p:grpSp>
      <p:grpSp>
        <p:nvGrpSpPr>
          <p:cNvPr id="47" name="Group 46">
            <a:extLst>
              <a:ext uri="{FF2B5EF4-FFF2-40B4-BE49-F238E27FC236}">
                <a16:creationId xmlns:a16="http://schemas.microsoft.com/office/drawing/2014/main" id="{AF5A2B65-3A66-DA3D-0A98-5E97CEFFD43D}"/>
              </a:ext>
            </a:extLst>
          </p:cNvPr>
          <p:cNvGrpSpPr/>
          <p:nvPr/>
        </p:nvGrpSpPr>
        <p:grpSpPr>
          <a:xfrm>
            <a:off x="6552185" y="2207231"/>
            <a:ext cx="1763486" cy="1508741"/>
            <a:chOff x="6552185" y="2207231"/>
            <a:chExt cx="1763486" cy="1508741"/>
          </a:xfrm>
        </p:grpSpPr>
        <p:sp>
          <p:nvSpPr>
            <p:cNvPr id="13" name="TextBox 12">
              <a:extLst>
                <a:ext uri="{FF2B5EF4-FFF2-40B4-BE49-F238E27FC236}">
                  <a16:creationId xmlns:a16="http://schemas.microsoft.com/office/drawing/2014/main" id="{D05AE7C9-F3D1-9706-BBE5-DDA8C162CB7A}"/>
                </a:ext>
              </a:extLst>
            </p:cNvPr>
            <p:cNvSpPr txBox="1"/>
            <p:nvPr/>
          </p:nvSpPr>
          <p:spPr>
            <a:xfrm>
              <a:off x="6552185" y="3131197"/>
              <a:ext cx="1763486" cy="584775"/>
            </a:xfrm>
            <a:prstGeom prst="rect">
              <a:avLst/>
            </a:prstGeom>
            <a:noFill/>
          </p:spPr>
          <p:txBody>
            <a:bodyPr wrap="square" rtlCol="0">
              <a:spAutoFit/>
            </a:bodyPr>
            <a:lstStyle/>
            <a:p>
              <a:r>
                <a:rPr lang="en-US" sz="3200" dirty="0"/>
                <a:t>Recipes</a:t>
              </a:r>
              <a:endParaRPr lang="en-IL" sz="3200" dirty="0"/>
            </a:p>
          </p:txBody>
        </p:sp>
        <p:pic>
          <p:nvPicPr>
            <p:cNvPr id="46" name="Graphic 45" descr="Chef Hat outline">
              <a:extLst>
                <a:ext uri="{FF2B5EF4-FFF2-40B4-BE49-F238E27FC236}">
                  <a16:creationId xmlns:a16="http://schemas.microsoft.com/office/drawing/2014/main" id="{E6462525-5EAE-79EA-0D84-0BA1918BFBE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71618" y="2207231"/>
              <a:ext cx="914400" cy="914400"/>
            </a:xfrm>
            <a:prstGeom prst="rect">
              <a:avLst/>
            </a:prstGeom>
          </p:spPr>
        </p:pic>
      </p:grpSp>
      <p:grpSp>
        <p:nvGrpSpPr>
          <p:cNvPr id="51" name="Group 50">
            <a:extLst>
              <a:ext uri="{FF2B5EF4-FFF2-40B4-BE49-F238E27FC236}">
                <a16:creationId xmlns:a16="http://schemas.microsoft.com/office/drawing/2014/main" id="{42849F4B-F90C-0DEB-5E89-228BBE91FA37}"/>
              </a:ext>
            </a:extLst>
          </p:cNvPr>
          <p:cNvGrpSpPr/>
          <p:nvPr/>
        </p:nvGrpSpPr>
        <p:grpSpPr>
          <a:xfrm>
            <a:off x="8804745" y="4152071"/>
            <a:ext cx="2148116" cy="2128759"/>
            <a:chOff x="6515556" y="4333460"/>
            <a:chExt cx="2148116" cy="2128759"/>
          </a:xfrm>
        </p:grpSpPr>
        <p:sp>
          <p:nvSpPr>
            <p:cNvPr id="16" name="TextBox 15">
              <a:extLst>
                <a:ext uri="{FF2B5EF4-FFF2-40B4-BE49-F238E27FC236}">
                  <a16:creationId xmlns:a16="http://schemas.microsoft.com/office/drawing/2014/main" id="{62B30C30-FB3D-BD67-7594-9E9411810816}"/>
                </a:ext>
              </a:extLst>
            </p:cNvPr>
            <p:cNvSpPr txBox="1"/>
            <p:nvPr/>
          </p:nvSpPr>
          <p:spPr>
            <a:xfrm>
              <a:off x="6515556" y="5385001"/>
              <a:ext cx="2148116" cy="1077218"/>
            </a:xfrm>
            <a:prstGeom prst="rect">
              <a:avLst/>
            </a:prstGeom>
            <a:noFill/>
          </p:spPr>
          <p:txBody>
            <a:bodyPr wrap="square" rtlCol="0">
              <a:spAutoFit/>
            </a:bodyPr>
            <a:lstStyle/>
            <a:p>
              <a:r>
                <a:rPr lang="en-US" sz="3200" dirty="0"/>
                <a:t>Analysis &amp; Insights</a:t>
              </a:r>
              <a:endParaRPr lang="en-IL" sz="3200" dirty="0"/>
            </a:p>
          </p:txBody>
        </p:sp>
        <p:pic>
          <p:nvPicPr>
            <p:cNvPr id="50" name="Graphic 49" descr="Research outline">
              <a:extLst>
                <a:ext uri="{FF2B5EF4-FFF2-40B4-BE49-F238E27FC236}">
                  <a16:creationId xmlns:a16="http://schemas.microsoft.com/office/drawing/2014/main" id="{0A810F35-82E1-0663-2163-BCA432E8098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76728" y="4333460"/>
              <a:ext cx="914400" cy="914400"/>
            </a:xfrm>
            <a:prstGeom prst="rect">
              <a:avLst/>
            </a:prstGeom>
          </p:spPr>
        </p:pic>
      </p:grpSp>
    </p:spTree>
    <p:extLst>
      <p:ext uri="{BB962C8B-B14F-4D97-AF65-F5344CB8AC3E}">
        <p14:creationId xmlns:p14="http://schemas.microsoft.com/office/powerpoint/2010/main" val="377699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9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6BCE5-03EA-727D-9D6E-FFD81B68760F}"/>
              </a:ext>
            </a:extLst>
          </p:cNvPr>
          <p:cNvSpPr>
            <a:spLocks noGrp="1"/>
          </p:cNvSpPr>
          <p:nvPr>
            <p:ph type="title"/>
          </p:nvPr>
        </p:nvSpPr>
        <p:spPr/>
        <p:txBody>
          <a:bodyPr/>
          <a:lstStyle/>
          <a:p>
            <a:r>
              <a:rPr lang="en-US" dirty="0"/>
              <a:t>Demonstrative Video</a:t>
            </a:r>
            <a:endParaRPr lang="en-IL" dirty="0"/>
          </a:p>
        </p:txBody>
      </p:sp>
      <p:sp>
        <p:nvSpPr>
          <p:cNvPr id="3" name="Content Placeholder 2">
            <a:extLst>
              <a:ext uri="{FF2B5EF4-FFF2-40B4-BE49-F238E27FC236}">
                <a16:creationId xmlns:a16="http://schemas.microsoft.com/office/drawing/2014/main" id="{2A739EA9-7E7A-8D8C-DA80-5EC18E2286C1}"/>
              </a:ext>
            </a:extLst>
          </p:cNvPr>
          <p:cNvSpPr>
            <a:spLocks noGrp="1"/>
          </p:cNvSpPr>
          <p:nvPr>
            <p:ph idx="1"/>
          </p:nvPr>
        </p:nvSpPr>
        <p:spPr/>
        <p:txBody>
          <a:bodyPr/>
          <a:lstStyle/>
          <a:p>
            <a:r>
              <a:rPr lang="en-US" dirty="0"/>
              <a:t>Add video here</a:t>
            </a:r>
            <a:endParaRPr lang="en-IL" dirty="0"/>
          </a:p>
        </p:txBody>
      </p:sp>
    </p:spTree>
    <p:extLst>
      <p:ext uri="{BB962C8B-B14F-4D97-AF65-F5344CB8AC3E}">
        <p14:creationId xmlns:p14="http://schemas.microsoft.com/office/powerpoint/2010/main" val="429982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4"/>
        </a:solidFill>
        <a:effectLst/>
      </p:bgPr>
    </p:bg>
    <p:spTree>
      <p:nvGrpSpPr>
        <p:cNvPr id="1" name="">
          <a:extLst>
            <a:ext uri="{FF2B5EF4-FFF2-40B4-BE49-F238E27FC236}">
              <a16:creationId xmlns:a16="http://schemas.microsoft.com/office/drawing/2014/main" id="{6FDEEE7C-A98E-E635-BF39-4E03A68B586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AB46051-6BB1-A993-04A8-9C4041FD0CF7}"/>
              </a:ext>
            </a:extLst>
          </p:cNvPr>
          <p:cNvPicPr>
            <a:picLocks noChangeAspect="1"/>
          </p:cNvPicPr>
          <p:nvPr/>
        </p:nvPicPr>
        <p:blipFill>
          <a:blip r:embed="rId3">
            <a:clrChange>
              <a:clrFrom>
                <a:srgbClr val="FAF8EC"/>
              </a:clrFrom>
              <a:clrTo>
                <a:srgbClr val="FAF8EC">
                  <a:alpha val="0"/>
                </a:srgbClr>
              </a:clrTo>
            </a:clrChange>
          </a:blip>
          <a:srcRect l="6234" t="4524" r="5112" b="2781"/>
          <a:stretch/>
        </p:blipFill>
        <p:spPr>
          <a:xfrm>
            <a:off x="1473077" y="1873186"/>
            <a:ext cx="4680980" cy="4694392"/>
          </a:xfrm>
          <a:prstGeom prst="roundRect">
            <a:avLst>
              <a:gd name="adj" fmla="val 23353"/>
            </a:avLst>
          </a:prstGeom>
        </p:spPr>
      </p:pic>
      <p:pic>
        <p:nvPicPr>
          <p:cNvPr id="7" name="Picture 2" descr="QR code PNG">
            <a:extLst>
              <a:ext uri="{FF2B5EF4-FFF2-40B4-BE49-F238E27FC236}">
                <a16:creationId xmlns:a16="http://schemas.microsoft.com/office/drawing/2014/main" id="{6DB29FA6-7EBA-0872-7B41-3CC690A964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846" y="1461060"/>
            <a:ext cx="5429682" cy="54296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CEFF023-6FA6-4338-23CA-F81951FDC4D5}"/>
              </a:ext>
            </a:extLst>
          </p:cNvPr>
          <p:cNvSpPr txBox="1"/>
          <p:nvPr/>
        </p:nvSpPr>
        <p:spPr>
          <a:xfrm>
            <a:off x="1233715" y="290422"/>
            <a:ext cx="6096000" cy="646331"/>
          </a:xfrm>
          <a:prstGeom prst="rect">
            <a:avLst/>
          </a:prstGeom>
          <a:noFill/>
        </p:spPr>
        <p:txBody>
          <a:bodyPr wrap="square">
            <a:spAutoFit/>
          </a:bodyPr>
          <a:lstStyle/>
          <a:p>
            <a:r>
              <a:rPr lang="en-US" sz="3600" b="1" dirty="0"/>
              <a:t>Join the Plateful Revolution</a:t>
            </a:r>
          </a:p>
        </p:txBody>
      </p:sp>
      <p:sp>
        <p:nvSpPr>
          <p:cNvPr id="6" name="TextBox 5">
            <a:extLst>
              <a:ext uri="{FF2B5EF4-FFF2-40B4-BE49-F238E27FC236}">
                <a16:creationId xmlns:a16="http://schemas.microsoft.com/office/drawing/2014/main" id="{7B04774E-55F0-6AE0-5A5D-66E91FA44E5A}"/>
              </a:ext>
            </a:extLst>
          </p:cNvPr>
          <p:cNvSpPr txBox="1"/>
          <p:nvPr/>
        </p:nvSpPr>
        <p:spPr>
          <a:xfrm>
            <a:off x="1233715" y="936753"/>
            <a:ext cx="9093200" cy="646331"/>
          </a:xfrm>
          <a:prstGeom prst="rect">
            <a:avLst/>
          </a:prstGeom>
          <a:noFill/>
        </p:spPr>
        <p:txBody>
          <a:bodyPr wrap="square">
            <a:spAutoFit/>
          </a:bodyPr>
          <a:lstStyle/>
          <a:p>
            <a:r>
              <a:rPr lang="en-US" dirty="0"/>
              <a:t>We invite you to be part of our mission. Invest in Plateful and revolutionize wellness. Scan the QR code to experience Plateful today.</a:t>
            </a:r>
          </a:p>
        </p:txBody>
      </p:sp>
    </p:spTree>
    <p:extLst>
      <p:ext uri="{BB962C8B-B14F-4D97-AF65-F5344CB8AC3E}">
        <p14:creationId xmlns:p14="http://schemas.microsoft.com/office/powerpoint/2010/main" val="62693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9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3785B-48E0-1D9D-1DA9-390D33179C2E}"/>
              </a:ext>
            </a:extLst>
          </p:cNvPr>
          <p:cNvSpPr>
            <a:spLocks noGrp="1"/>
          </p:cNvSpPr>
          <p:nvPr>
            <p:ph type="title"/>
          </p:nvPr>
        </p:nvSpPr>
        <p:spPr>
          <a:xfrm>
            <a:off x="838200" y="1839831"/>
            <a:ext cx="10515600" cy="2496311"/>
          </a:xfrm>
        </p:spPr>
        <p:txBody>
          <a:bodyPr>
            <a:noAutofit/>
          </a:bodyPr>
          <a:lstStyle/>
          <a:p>
            <a:pPr algn="ctr"/>
            <a:r>
              <a:rPr lang="en-US" sz="8800" b="1" dirty="0">
                <a:latin typeface="Assistant ExtraBold" pitchFamily="2" charset="-79"/>
                <a:cs typeface="Assistant ExtraBold" pitchFamily="2" charset="-79"/>
              </a:rPr>
              <a:t>User Population</a:t>
            </a:r>
            <a:endParaRPr lang="en-IL" sz="8800" b="1" dirty="0">
              <a:latin typeface="Assistant ExtraBold" pitchFamily="2" charset="-79"/>
              <a:cs typeface="Assistant ExtraBold" pitchFamily="2" charset="-79"/>
            </a:endParaRPr>
          </a:p>
        </p:txBody>
      </p:sp>
      <p:sp>
        <p:nvSpPr>
          <p:cNvPr id="7" name="Title 1">
            <a:extLst>
              <a:ext uri="{FF2B5EF4-FFF2-40B4-BE49-F238E27FC236}">
                <a16:creationId xmlns:a16="http://schemas.microsoft.com/office/drawing/2014/main" id="{5A24A1A9-5857-2E67-4F8C-98BF1928BF58}"/>
              </a:ext>
            </a:extLst>
          </p:cNvPr>
          <p:cNvSpPr txBox="1">
            <a:spLocks/>
          </p:cNvSpPr>
          <p:nvPr/>
        </p:nvSpPr>
        <p:spPr>
          <a:xfrm>
            <a:off x="838200" y="591675"/>
            <a:ext cx="10515600" cy="24963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accent6">
                    <a:lumMod val="75000"/>
                  </a:schemeClr>
                </a:solidFill>
                <a:latin typeface="Assistant Light" pitchFamily="2" charset="-79"/>
                <a:cs typeface="Assistant Light" pitchFamily="2" charset="-79"/>
              </a:rPr>
              <a:t>18 – 35 y/o</a:t>
            </a:r>
            <a:endParaRPr lang="en-IL" sz="6600" dirty="0">
              <a:solidFill>
                <a:schemeClr val="accent6">
                  <a:lumMod val="75000"/>
                </a:schemeClr>
              </a:solidFill>
              <a:latin typeface="Assistant Light" pitchFamily="2" charset="-79"/>
              <a:cs typeface="Assistant Light" pitchFamily="2" charset="-79"/>
            </a:endParaRPr>
          </a:p>
        </p:txBody>
      </p:sp>
      <p:pic>
        <p:nvPicPr>
          <p:cNvPr id="4" name="Graphic 3" descr="Users with solid fill">
            <a:extLst>
              <a:ext uri="{FF2B5EF4-FFF2-40B4-BE49-F238E27FC236}">
                <a16:creationId xmlns:a16="http://schemas.microsoft.com/office/drawing/2014/main" id="{CDAC146F-A56F-AAF8-8FC1-F5B28D6FDE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1656" y="4219883"/>
            <a:ext cx="2561771" cy="2561771"/>
          </a:xfrm>
          <a:prstGeom prst="rect">
            <a:avLst/>
          </a:prstGeom>
        </p:spPr>
      </p:pic>
      <p:pic>
        <p:nvPicPr>
          <p:cNvPr id="8" name="Picture 7" descr="A cartoon of a avocado running&#10;&#10;AI-generated content may be incorrect.">
            <a:extLst>
              <a:ext uri="{FF2B5EF4-FFF2-40B4-BE49-F238E27FC236}">
                <a16:creationId xmlns:a16="http://schemas.microsoft.com/office/drawing/2014/main" id="{F10C6D2F-06AE-DF29-2434-0B2967E86BEB}"/>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38594" r="40078"/>
          <a:stretch/>
        </p:blipFill>
        <p:spPr>
          <a:xfrm flipH="1">
            <a:off x="300037" y="4019453"/>
            <a:ext cx="2257424" cy="2609850"/>
          </a:xfrm>
          <a:prstGeom prst="rect">
            <a:avLst/>
          </a:prstGeom>
        </p:spPr>
      </p:pic>
    </p:spTree>
    <p:extLst>
      <p:ext uri="{BB962C8B-B14F-4D97-AF65-F5344CB8AC3E}">
        <p14:creationId xmlns:p14="http://schemas.microsoft.com/office/powerpoint/2010/main" val="372202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9F6"/>
        </a:solidFill>
        <a:effectLst/>
      </p:bgPr>
    </p:bg>
    <p:spTree>
      <p:nvGrpSpPr>
        <p:cNvPr id="1" name="">
          <a:extLst>
            <a:ext uri="{FF2B5EF4-FFF2-40B4-BE49-F238E27FC236}">
              <a16:creationId xmlns:a16="http://schemas.microsoft.com/office/drawing/2014/main" id="{E5B7F806-25D3-3A31-3DD8-1FEF9A71F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95A3C-6553-3134-685B-8BD904DED1FA}"/>
              </a:ext>
            </a:extLst>
          </p:cNvPr>
          <p:cNvSpPr>
            <a:spLocks noGrp="1"/>
          </p:cNvSpPr>
          <p:nvPr>
            <p:ph type="title"/>
          </p:nvPr>
        </p:nvSpPr>
        <p:spPr>
          <a:xfrm>
            <a:off x="838200" y="1839831"/>
            <a:ext cx="10515600" cy="2496311"/>
          </a:xfrm>
        </p:spPr>
        <p:txBody>
          <a:bodyPr>
            <a:noAutofit/>
          </a:bodyPr>
          <a:lstStyle/>
          <a:p>
            <a:pPr algn="ctr"/>
            <a:r>
              <a:rPr lang="en-US" sz="8800" b="1" dirty="0">
                <a:latin typeface="Assistant ExtraBold" pitchFamily="2" charset="-79"/>
                <a:cs typeface="Assistant ExtraBold" pitchFamily="2" charset="-79"/>
              </a:rPr>
              <a:t>Market Size</a:t>
            </a:r>
            <a:endParaRPr lang="en-IL" sz="8800" b="1" dirty="0">
              <a:latin typeface="Assistant ExtraBold" pitchFamily="2" charset="-79"/>
              <a:cs typeface="Assistant ExtraBold" pitchFamily="2" charset="-79"/>
            </a:endParaRPr>
          </a:p>
        </p:txBody>
      </p:sp>
      <p:sp>
        <p:nvSpPr>
          <p:cNvPr id="7" name="Title 1">
            <a:extLst>
              <a:ext uri="{FF2B5EF4-FFF2-40B4-BE49-F238E27FC236}">
                <a16:creationId xmlns:a16="http://schemas.microsoft.com/office/drawing/2014/main" id="{9798B299-2EAC-3DC4-823C-7DA672A9F5AF}"/>
              </a:ext>
            </a:extLst>
          </p:cNvPr>
          <p:cNvSpPr txBox="1">
            <a:spLocks/>
          </p:cNvSpPr>
          <p:nvPr/>
        </p:nvSpPr>
        <p:spPr>
          <a:xfrm>
            <a:off x="754741" y="526215"/>
            <a:ext cx="10515600" cy="24963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accent6">
                    <a:lumMod val="75000"/>
                  </a:schemeClr>
                </a:solidFill>
                <a:latin typeface="Assistant Light" pitchFamily="2" charset="-79"/>
                <a:cs typeface="Assistant Light" pitchFamily="2" charset="-79"/>
              </a:rPr>
              <a:t>11.3B$ + 14.9% CAGR</a:t>
            </a:r>
            <a:endParaRPr lang="en-IL" sz="6600" dirty="0">
              <a:solidFill>
                <a:schemeClr val="accent6">
                  <a:lumMod val="75000"/>
                </a:schemeClr>
              </a:solidFill>
              <a:latin typeface="Assistant Light" pitchFamily="2" charset="-79"/>
              <a:cs typeface="Assistant Light" pitchFamily="2" charset="-79"/>
            </a:endParaRPr>
          </a:p>
        </p:txBody>
      </p:sp>
      <p:pic>
        <p:nvPicPr>
          <p:cNvPr id="4" name="Graphic 3" descr="Users with solid fill">
            <a:extLst>
              <a:ext uri="{FF2B5EF4-FFF2-40B4-BE49-F238E27FC236}">
                <a16:creationId xmlns:a16="http://schemas.microsoft.com/office/drawing/2014/main" id="{328B347F-D351-A23A-2D1A-27755FF91E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1656" y="4219883"/>
            <a:ext cx="2561771" cy="2561771"/>
          </a:xfrm>
          <a:prstGeom prst="rect">
            <a:avLst/>
          </a:prstGeom>
        </p:spPr>
      </p:pic>
      <p:pic>
        <p:nvPicPr>
          <p:cNvPr id="3" name="Picture 2" descr="A cartoon of a avocado running&#10;&#10;AI-generated content may be incorrect.">
            <a:extLst>
              <a:ext uri="{FF2B5EF4-FFF2-40B4-BE49-F238E27FC236}">
                <a16:creationId xmlns:a16="http://schemas.microsoft.com/office/drawing/2014/main" id="{FAF9470F-7E07-E76B-C36E-042B8A5E51E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38594" r="40078"/>
          <a:stretch/>
        </p:blipFill>
        <p:spPr>
          <a:xfrm flipH="1">
            <a:off x="9796462" y="4076603"/>
            <a:ext cx="2257424" cy="2609850"/>
          </a:xfrm>
          <a:prstGeom prst="rect">
            <a:avLst/>
          </a:prstGeom>
        </p:spPr>
      </p:pic>
    </p:spTree>
    <p:extLst>
      <p:ext uri="{BB962C8B-B14F-4D97-AF65-F5344CB8AC3E}">
        <p14:creationId xmlns:p14="http://schemas.microsoft.com/office/powerpoint/2010/main" val="169992325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9F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74A0C-DEBE-9B0C-8A1C-F8AB05A0FDE6}"/>
              </a:ext>
            </a:extLst>
          </p:cNvPr>
          <p:cNvSpPr>
            <a:spLocks noGrp="1"/>
          </p:cNvSpPr>
          <p:nvPr>
            <p:ph type="title"/>
          </p:nvPr>
        </p:nvSpPr>
        <p:spPr>
          <a:xfrm>
            <a:off x="590550" y="569158"/>
            <a:ext cx="10515600" cy="1325563"/>
          </a:xfrm>
        </p:spPr>
        <p:txBody>
          <a:bodyPr/>
          <a:lstStyle/>
          <a:p>
            <a:r>
              <a:rPr lang="en-US" b="1" dirty="0"/>
              <a:t>Revenue Model</a:t>
            </a:r>
            <a:br>
              <a:rPr lang="en-US" b="1" dirty="0"/>
            </a:br>
            <a:endParaRPr lang="en-IL" dirty="0"/>
          </a:p>
        </p:txBody>
      </p:sp>
      <p:sp>
        <p:nvSpPr>
          <p:cNvPr id="4" name="TextBox 3">
            <a:extLst>
              <a:ext uri="{FF2B5EF4-FFF2-40B4-BE49-F238E27FC236}">
                <a16:creationId xmlns:a16="http://schemas.microsoft.com/office/drawing/2014/main" id="{5D0D54C3-1DC3-EB8A-6B29-E3DBE02D0A2B}"/>
              </a:ext>
            </a:extLst>
          </p:cNvPr>
          <p:cNvSpPr txBox="1"/>
          <p:nvPr/>
        </p:nvSpPr>
        <p:spPr>
          <a:xfrm>
            <a:off x="457200" y="2274838"/>
            <a:ext cx="3643086" cy="1938992"/>
          </a:xfrm>
          <a:prstGeom prst="rect">
            <a:avLst/>
          </a:prstGeom>
          <a:noFill/>
        </p:spPr>
        <p:txBody>
          <a:bodyPr wrap="square" rtlCol="0">
            <a:spAutoFit/>
          </a:bodyPr>
          <a:lstStyle/>
          <a:p>
            <a:pPr>
              <a:buNone/>
            </a:pPr>
            <a:r>
              <a:rPr lang="en-US" sz="2400" b="1" dirty="0"/>
              <a:t>Freemium Tier</a:t>
            </a:r>
          </a:p>
          <a:p>
            <a:r>
              <a:rPr lang="en-US" sz="2400" dirty="0"/>
              <a:t>Free core experience with basic tracking, quests, and recipes. </a:t>
            </a:r>
          </a:p>
          <a:p>
            <a:endParaRPr lang="en-IL" sz="2400" dirty="0"/>
          </a:p>
        </p:txBody>
      </p:sp>
      <p:sp>
        <p:nvSpPr>
          <p:cNvPr id="6" name="TextBox 5">
            <a:extLst>
              <a:ext uri="{FF2B5EF4-FFF2-40B4-BE49-F238E27FC236}">
                <a16:creationId xmlns:a16="http://schemas.microsoft.com/office/drawing/2014/main" id="{271A7E7C-CB75-FE28-D1E5-2828770D4283}"/>
              </a:ext>
            </a:extLst>
          </p:cNvPr>
          <p:cNvSpPr txBox="1"/>
          <p:nvPr/>
        </p:nvSpPr>
        <p:spPr>
          <a:xfrm>
            <a:off x="4022272" y="2181981"/>
            <a:ext cx="4020457" cy="2677656"/>
          </a:xfrm>
          <a:prstGeom prst="rect">
            <a:avLst/>
          </a:prstGeom>
          <a:noFill/>
        </p:spPr>
        <p:txBody>
          <a:bodyPr wrap="square">
            <a:spAutoFit/>
          </a:bodyPr>
          <a:lstStyle/>
          <a:p>
            <a:pPr>
              <a:buNone/>
            </a:pPr>
            <a:r>
              <a:rPr lang="en-US" sz="2400" b="1" dirty="0"/>
              <a:t>Premium Subscription (4.99$/month)</a:t>
            </a:r>
          </a:p>
          <a:p>
            <a:r>
              <a:rPr lang="en-US" sz="2400" dirty="0"/>
              <a:t>Unlock deeper insights, custom plans, exclusive badges, and access to AI-powered coaching from Guaco</a:t>
            </a:r>
          </a:p>
        </p:txBody>
      </p:sp>
      <p:sp>
        <p:nvSpPr>
          <p:cNvPr id="13" name="TextBox 12">
            <a:extLst>
              <a:ext uri="{FF2B5EF4-FFF2-40B4-BE49-F238E27FC236}">
                <a16:creationId xmlns:a16="http://schemas.microsoft.com/office/drawing/2014/main" id="{111526F0-8A44-1AF5-F7FE-3C4EFBA09CEA}"/>
              </a:ext>
            </a:extLst>
          </p:cNvPr>
          <p:cNvSpPr txBox="1"/>
          <p:nvPr/>
        </p:nvSpPr>
        <p:spPr>
          <a:xfrm>
            <a:off x="8193768" y="2090172"/>
            <a:ext cx="3882571" cy="2677656"/>
          </a:xfrm>
          <a:prstGeom prst="rect">
            <a:avLst/>
          </a:prstGeom>
          <a:noFill/>
        </p:spPr>
        <p:txBody>
          <a:bodyPr wrap="square">
            <a:spAutoFit/>
          </a:bodyPr>
          <a:lstStyle/>
          <a:p>
            <a:pPr>
              <a:buNone/>
            </a:pPr>
            <a:r>
              <a:rPr lang="en-US" sz="2400" b="1" dirty="0"/>
              <a:t>Brand Partnerships &amp; In-App Marketplace</a:t>
            </a:r>
          </a:p>
          <a:p>
            <a:r>
              <a:rPr lang="en-US" sz="2400" dirty="0"/>
              <a:t>Meal kit collabs, fitness gear promos, or branded quests (e.g., “7-Day Hydration Challenge with [Brand]”)</a:t>
            </a:r>
          </a:p>
        </p:txBody>
      </p:sp>
      <p:pic>
        <p:nvPicPr>
          <p:cNvPr id="14" name="Picture 13" descr="A cartoon of a avocado running&#10;&#10;AI-generated content may be incorrect.">
            <a:extLst>
              <a:ext uri="{FF2B5EF4-FFF2-40B4-BE49-F238E27FC236}">
                <a16:creationId xmlns:a16="http://schemas.microsoft.com/office/drawing/2014/main" id="{8A0511B7-873C-D94A-17B7-34EA7BFA44F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9922" r="20235"/>
          <a:stretch/>
        </p:blipFill>
        <p:spPr>
          <a:xfrm>
            <a:off x="9691800" y="4453371"/>
            <a:ext cx="2233500" cy="2404629"/>
          </a:xfrm>
          <a:prstGeom prst="rect">
            <a:avLst/>
          </a:prstGeom>
        </p:spPr>
      </p:pic>
    </p:spTree>
    <p:extLst>
      <p:ext uri="{BB962C8B-B14F-4D97-AF65-F5344CB8AC3E}">
        <p14:creationId xmlns:p14="http://schemas.microsoft.com/office/powerpoint/2010/main" val="394223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7155</TotalTime>
  <Words>1101</Words>
  <Application>Microsoft Office PowerPoint</Application>
  <PresentationFormat>Widescreen</PresentationFormat>
  <Paragraphs>107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Assistant ExtraBold</vt:lpstr>
      <vt:lpstr>Assistant Light</vt:lpstr>
      <vt:lpstr>Office Theme</vt:lpstr>
      <vt:lpstr>PowerPoint Presentation</vt:lpstr>
      <vt:lpstr>PowerPoint Presentation</vt:lpstr>
      <vt:lpstr>PowerPoint Presentation</vt:lpstr>
      <vt:lpstr>PowerPoint Presentation</vt:lpstr>
      <vt:lpstr>PowerPoint Presentation</vt:lpstr>
      <vt:lpstr>Our Solution</vt:lpstr>
      <vt:lpstr>Introducing Guaco </vt:lpstr>
      <vt:lpstr>Demonstrative Video</vt:lpstr>
      <vt:lpstr>PowerPoint Presentation</vt:lpstr>
      <vt:lpstr>User Population</vt:lpstr>
      <vt:lpstr>Market Size</vt:lpstr>
      <vt:lpstr>Revenue Model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almog miron</dc:creator>
  <cp:lastModifiedBy>almog miron</cp:lastModifiedBy>
  <cp:revision>4</cp:revision>
  <dcterms:created xsi:type="dcterms:W3CDTF">2025-05-29T18:35:18Z</dcterms:created>
  <dcterms:modified xsi:type="dcterms:W3CDTF">2025-06-03T17:50:57Z</dcterms:modified>
</cp:coreProperties>
</file>